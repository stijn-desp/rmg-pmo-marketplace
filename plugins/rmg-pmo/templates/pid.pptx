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16"/>
  </p:notesMasterIdLst>
  <p:sldIdLst>
    <p:sldId id="272" r:id="rId5"/>
    <p:sldId id="279" r:id="rId6"/>
    <p:sldId id="274" r:id="rId7"/>
    <p:sldId id="261" r:id="rId8"/>
    <p:sldId id="277" r:id="rId9"/>
    <p:sldId id="281" r:id="rId10"/>
    <p:sldId id="263" r:id="rId11"/>
    <p:sldId id="265" r:id="rId12"/>
    <p:sldId id="280" r:id="rId13"/>
    <p:sldId id="267" r:id="rId14"/>
    <p:sldId id="275" r:id="rId15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00B0BA-7581-631A-C009-2CA9689B3119}" v="20" dt="2026-05-18T14:18:52.922"/>
  </p1510:revLst>
</p1510:revInfo>
</file>

<file path=ppt/tableStyles.xml><?xml version="1.0" encoding="utf-8"?>
<a:tblStyleLst xmlns:a="http://schemas.openxmlformats.org/drawingml/2006/main" def="{46466540-DBD0-4E14-94ED-1DB77FA02914}">
  <a:tblStyle styleId="{46466540-DBD0-4E14-94ED-1DB77FA0291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81" d="100"/>
          <a:sy n="81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2952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7721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8153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1809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0807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7950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96475" y="127353"/>
            <a:ext cx="2152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3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700911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  <p:pic>
        <p:nvPicPr>
          <p:cNvPr id="7" name="Afbeelding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022" y="113859"/>
            <a:ext cx="2152650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920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2990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56122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694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452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1734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1015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379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20438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09348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9BAB8-EE29-8748-9121-91496A18C3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44632" y="3166238"/>
            <a:ext cx="6779031" cy="1901354"/>
          </a:xfrm>
        </p:spPr>
        <p:txBody>
          <a:bodyPr wrap="square" anchor="t">
            <a:spAutoFit/>
          </a:bodyPr>
          <a:lstStyle>
            <a:lvl1pPr algn="l">
              <a:lnSpc>
                <a:spcPts val="2800"/>
              </a:lnSpc>
              <a:defRPr sz="1400" b="0" i="0" spc="10" baseline="0">
                <a:solidFill>
                  <a:srgbClr val="64636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/>
              <a:t>Non </a:t>
            </a:r>
            <a:r>
              <a:rPr lang="en-GB" err="1"/>
              <a:t>equidem</a:t>
            </a:r>
            <a:r>
              <a:rPr lang="en-GB"/>
              <a:t> </a:t>
            </a:r>
            <a:r>
              <a:rPr lang="en-GB" err="1"/>
              <a:t>invideo</a:t>
            </a:r>
            <a:r>
              <a:rPr lang="en-GB"/>
              <a:t>, </a:t>
            </a:r>
            <a:r>
              <a:rPr lang="en-GB" err="1"/>
              <a:t>miror</a:t>
            </a:r>
            <a:r>
              <a:rPr lang="en-GB"/>
              <a:t> </a:t>
            </a:r>
            <a:r>
              <a:rPr lang="en-GB" err="1"/>
              <a:t>magis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velit</a:t>
            </a:r>
            <a:r>
              <a:rPr lang="en-GB"/>
              <a:t> </a:t>
            </a:r>
            <a:r>
              <a:rPr lang="en-GB" err="1"/>
              <a:t>aliquet</a:t>
            </a:r>
            <a:r>
              <a:rPr lang="en-GB"/>
              <a:t>. Integer </a:t>
            </a:r>
            <a:r>
              <a:rPr lang="en-GB" err="1"/>
              <a:t>legentibus</a:t>
            </a:r>
            <a:r>
              <a:rPr lang="en-GB"/>
              <a:t> </a:t>
            </a:r>
            <a:r>
              <a:rPr lang="en-GB" err="1"/>
              <a:t>erat</a:t>
            </a:r>
            <a:r>
              <a:rPr lang="en-GB"/>
              <a:t> a ante </a:t>
            </a:r>
            <a:r>
              <a:rPr lang="en-GB" err="1"/>
              <a:t>historiarum</a:t>
            </a:r>
            <a:r>
              <a:rPr lang="en-GB"/>
              <a:t> </a:t>
            </a:r>
            <a:r>
              <a:rPr lang="en-GB" err="1"/>
              <a:t>dapibus</a:t>
            </a:r>
            <a:r>
              <a:rPr lang="en-GB"/>
              <a:t>. Ab </a:t>
            </a:r>
            <a:r>
              <a:rPr lang="en-GB" err="1"/>
              <a:t>illo</a:t>
            </a:r>
            <a:r>
              <a:rPr lang="en-GB"/>
              <a:t> tempore, ab </a:t>
            </a:r>
            <a:r>
              <a:rPr lang="en-GB" err="1"/>
              <a:t>est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immemorabili</a:t>
            </a:r>
            <a:r>
              <a:rPr lang="en-GB"/>
              <a:t>. </a:t>
            </a:r>
            <a:r>
              <a:rPr lang="en-GB" err="1"/>
              <a:t>Phasellus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 lorem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tempus </a:t>
            </a:r>
            <a:r>
              <a:rPr lang="en-GB" err="1"/>
              <a:t>vehicula</a:t>
            </a:r>
            <a:r>
              <a:rPr lang="en-GB"/>
              <a:t>. </a:t>
            </a:r>
            <a:r>
              <a:rPr lang="en-GB" err="1"/>
              <a:t>Ambitioni</a:t>
            </a:r>
            <a:r>
              <a:rPr lang="en-GB"/>
              <a:t> </a:t>
            </a:r>
            <a:r>
              <a:rPr lang="en-GB" err="1"/>
              <a:t>dedisse</a:t>
            </a:r>
            <a:r>
              <a:rPr lang="en-GB"/>
              <a:t> </a:t>
            </a:r>
            <a:r>
              <a:rPr lang="en-GB" err="1"/>
              <a:t>scripsisse</a:t>
            </a:r>
            <a:r>
              <a:rPr lang="en-GB"/>
              <a:t> </a:t>
            </a:r>
            <a:r>
              <a:rPr lang="en-GB" err="1"/>
              <a:t>iudicaretur</a:t>
            </a:r>
            <a:r>
              <a:rPr lang="en-GB"/>
              <a:t>. Morbi </a:t>
            </a:r>
            <a:r>
              <a:rPr lang="en-GB" err="1"/>
              <a:t>fringilla</a:t>
            </a:r>
            <a:r>
              <a:rPr lang="en-GB"/>
              <a:t> convallis </a:t>
            </a:r>
            <a:r>
              <a:rPr lang="en-GB" err="1"/>
              <a:t>sapien</a:t>
            </a:r>
            <a:r>
              <a:rPr lang="en-GB"/>
              <a:t>, id pulvinar </a:t>
            </a:r>
            <a:r>
              <a:rPr lang="en-GB" err="1"/>
              <a:t>odio</a:t>
            </a:r>
            <a:r>
              <a:rPr lang="en-GB"/>
              <a:t> </a:t>
            </a:r>
            <a:r>
              <a:rPr lang="en-GB" err="1"/>
              <a:t>volutpat</a:t>
            </a:r>
            <a:r>
              <a:rPr lang="en-GB"/>
              <a:t>.</a:t>
            </a:r>
            <a:endParaRPr lang="aa-E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93011-E6CE-664D-8783-44B54D6BA5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44633" y="2032757"/>
            <a:ext cx="5401920" cy="908611"/>
          </a:xfrm>
        </p:spPr>
        <p:txBody>
          <a:bodyPr>
            <a:spAutoFit/>
          </a:bodyPr>
          <a:lstStyle>
            <a:lvl1pPr marL="0" indent="0" algn="l">
              <a:lnSpc>
                <a:spcPts val="3200"/>
              </a:lnSpc>
              <a:buNone/>
              <a:defRPr sz="2500" spc="50" baseline="0">
                <a:solidFill>
                  <a:srgbClr val="E4222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err="1"/>
              <a:t>Voorbeeld</a:t>
            </a:r>
            <a:r>
              <a:rPr lang="en-GB"/>
              <a:t> van </a:t>
            </a:r>
            <a:r>
              <a:rPr lang="en-GB" err="1"/>
              <a:t>een</a:t>
            </a:r>
            <a:r>
              <a:rPr lang="en-GB"/>
              <a:t> </a:t>
            </a:r>
            <a:r>
              <a:rPr lang="en-GB" err="1"/>
              <a:t>langere</a:t>
            </a:r>
            <a:r>
              <a:rPr lang="en-GB"/>
              <a:t> </a:t>
            </a:r>
            <a:r>
              <a:rPr lang="en-GB" err="1"/>
              <a:t>titel</a:t>
            </a:r>
            <a:r>
              <a:rPr lang="en-GB"/>
              <a:t> op twee regels</a:t>
            </a:r>
            <a:endParaRPr lang="aa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DB43D-2454-2E42-9998-4C87B0225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1050" y="6167217"/>
            <a:ext cx="2743200" cy="365125"/>
          </a:xfrm>
        </p:spPr>
        <p:txBody>
          <a:bodyPr/>
          <a:lstStyle>
            <a:lvl1pPr>
              <a:defRPr sz="1100">
                <a:solidFill>
                  <a:srgbClr val="B2B2B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EDE2D3B9-62DD-084C-99EB-FDE1EC726E92}" type="slidenum">
              <a:rPr lang="aa-ET" smtClean="0"/>
              <a:pPr/>
              <a:t>‹nr.›</a:t>
            </a:fld>
            <a:endParaRPr lang="aa-ET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26F1367-1DA4-EF4E-971A-F8AB0EEB972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323" y="403892"/>
            <a:ext cx="4243387" cy="280552"/>
          </a:xfrm>
        </p:spPr>
        <p:txBody>
          <a:bodyPr>
            <a:normAutofit/>
          </a:bodyPr>
          <a:lstStyle>
            <a:lvl1pPr marL="0" indent="0">
              <a:buNone/>
              <a:defRPr sz="1000" spc="70" baseline="0">
                <a:solidFill>
                  <a:srgbClr val="64636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aa-ET"/>
              <a:t>ONZE MISSIE, VISIE EN WAARDEN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9D8803-3474-E845-8568-69A3FA704F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37483" y="1648140"/>
            <a:ext cx="1431982" cy="384617"/>
          </a:xfrm>
        </p:spPr>
        <p:txBody>
          <a:bodyPr>
            <a:normAutofit/>
          </a:bodyPr>
          <a:lstStyle>
            <a:lvl1pPr marL="0" indent="0">
              <a:buNone/>
              <a:defRPr sz="1800" spc="50" baseline="0">
                <a:solidFill>
                  <a:srgbClr val="E4222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aa-ET"/>
              <a:t>01.3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021C9E-F865-DA49-B302-8314D9C1C5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6864" y="5756815"/>
            <a:ext cx="2115661" cy="101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48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7">
          <p15:clr>
            <a:srgbClr val="FBAE40"/>
          </p15:clr>
        </p15:guide>
        <p15:guide id="2" orient="horz" pos="4042">
          <p15:clr>
            <a:srgbClr val="FBAE40"/>
          </p15:clr>
        </p15:guide>
        <p15:guide id="3" pos="1413">
          <p15:clr>
            <a:srgbClr val="FBAE40"/>
          </p15:clr>
        </p15:guide>
        <p15:guide id="4" pos="93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318F1-059D-497B-9EB9-18B0B8DD6906}" type="datetimeFigureOut">
              <a:rPr lang="nl-BE" smtClean="0"/>
              <a:t>28/08/2026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4AF3B-3090-4698-9A35-C72A68FCE017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039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nl-BE" sz="4400" b="1"/>
              <a:t>PMO </a:t>
            </a:r>
            <a:r>
              <a:rPr lang="en-BE" sz="4400" b="1" dirty="0"/>
              <a:t>Board dd/mm/</a:t>
            </a:r>
            <a:r>
              <a:rPr lang="en-BE" sz="4400" b="1" dirty="0" err="1"/>
              <a:t>yy</a:t>
            </a:r>
            <a:br>
              <a:rPr lang="nl-BE" sz="4400" b="1" dirty="0"/>
            </a:br>
            <a:r>
              <a:rPr lang="nl-BE" sz="4400" b="1" dirty="0"/>
              <a:t>PROJECT INITIATION DOCUMENT (PID)</a:t>
            </a:r>
            <a:endParaRPr sz="4400" b="1" dirty="0"/>
          </a:p>
        </p:txBody>
      </p:sp>
      <p:sp>
        <p:nvSpPr>
          <p:cNvPr id="5" name="Google Shape;97;p14"/>
          <p:cNvSpPr txBox="1"/>
          <p:nvPr/>
        </p:nvSpPr>
        <p:spPr>
          <a:xfrm>
            <a:off x="1330222" y="4128122"/>
            <a:ext cx="9144000" cy="80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tabLst/>
              <a:defRPr/>
            </a:pPr>
            <a:r>
              <a:rPr kumimoji="0" lang="nl-BE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kumimoji="0" lang="nl-BE" sz="36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/NR</a:t>
            </a:r>
            <a:r>
              <a:rPr kumimoji="0" lang="nl-BE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 OF PROJECT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  <a:tabLst/>
              <a:defRPr/>
            </a:pPr>
            <a:r>
              <a:rPr lang="nl-BE" sz="3600" i="1">
                <a:latin typeface="Calibri"/>
                <a:ea typeface="Calibri"/>
                <a:cs typeface="Calibri"/>
                <a:sym typeface="Calibri"/>
              </a:rPr>
              <a:t>PRJ00xx.NAAM</a:t>
            </a:r>
            <a:endParaRPr kumimoji="0" sz="36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85;p33"/>
          <p:cNvSpPr/>
          <p:nvPr/>
        </p:nvSpPr>
        <p:spPr>
          <a:xfrm>
            <a:off x="10076057" y="5389228"/>
            <a:ext cx="1935983" cy="327145"/>
          </a:xfrm>
          <a:prstGeom prst="homePlate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OPERATIONS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85;p33"/>
          <p:cNvSpPr/>
          <p:nvPr/>
        </p:nvSpPr>
        <p:spPr>
          <a:xfrm>
            <a:off x="334866" y="5388382"/>
            <a:ext cx="1935983" cy="327145"/>
          </a:xfrm>
          <a:prstGeom prst="homePlate">
            <a:avLst>
              <a:gd name="adj" fmla="val 50000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DISCOVER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86;p33"/>
          <p:cNvGrpSpPr/>
          <p:nvPr/>
        </p:nvGrpSpPr>
        <p:grpSpPr>
          <a:xfrm>
            <a:off x="1920518" y="5352193"/>
            <a:ext cx="2292450" cy="401216"/>
            <a:chOff x="2488747" y="3791774"/>
            <a:chExt cx="2486921" cy="632298"/>
          </a:xfrm>
        </p:grpSpPr>
        <p:sp>
          <p:nvSpPr>
            <p:cNvPr id="23" name="Google Shape;287;p33"/>
            <p:cNvSpPr/>
            <p:nvPr/>
          </p:nvSpPr>
          <p:spPr>
            <a:xfrm>
              <a:off x="2756260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INITIATE</a:t>
              </a:r>
              <a:endParaRPr kumimoji="0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88;p33"/>
            <p:cNvSpPr/>
            <p:nvPr/>
          </p:nvSpPr>
          <p:spPr>
            <a:xfrm>
              <a:off x="2488747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kumimoji="0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" name="Google Shape;289;p33"/>
          <p:cNvGrpSpPr/>
          <p:nvPr/>
        </p:nvGrpSpPr>
        <p:grpSpPr>
          <a:xfrm>
            <a:off x="3908506" y="5352193"/>
            <a:ext cx="2299506" cy="401216"/>
            <a:chOff x="4476735" y="3791774"/>
            <a:chExt cx="2494575" cy="632298"/>
          </a:xfrm>
        </p:grpSpPr>
        <p:sp>
          <p:nvSpPr>
            <p:cNvPr id="26" name="Google Shape;290;p33"/>
            <p:cNvSpPr/>
            <p:nvPr/>
          </p:nvSpPr>
          <p:spPr>
            <a:xfrm>
              <a:off x="4751902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ANALYSE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91;p33"/>
            <p:cNvSpPr/>
            <p:nvPr/>
          </p:nvSpPr>
          <p:spPr>
            <a:xfrm>
              <a:off x="4476735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28" name="Google Shape;292;p33"/>
          <p:cNvGrpSpPr/>
          <p:nvPr/>
        </p:nvGrpSpPr>
        <p:grpSpPr>
          <a:xfrm>
            <a:off x="5955547" y="5352193"/>
            <a:ext cx="2252125" cy="401216"/>
            <a:chOff x="6523777" y="3791774"/>
            <a:chExt cx="2443175" cy="632298"/>
          </a:xfrm>
        </p:grpSpPr>
        <p:sp>
          <p:nvSpPr>
            <p:cNvPr id="29" name="Google Shape;293;p33"/>
            <p:cNvSpPr/>
            <p:nvPr/>
          </p:nvSpPr>
          <p:spPr>
            <a:xfrm>
              <a:off x="6747544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BUILD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94;p33"/>
            <p:cNvSpPr/>
            <p:nvPr/>
          </p:nvSpPr>
          <p:spPr>
            <a:xfrm>
              <a:off x="6523777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1" name="Google Shape;295;p33"/>
          <p:cNvGrpSpPr/>
          <p:nvPr/>
        </p:nvGrpSpPr>
        <p:grpSpPr>
          <a:xfrm>
            <a:off x="7901890" y="5352193"/>
            <a:ext cx="2297569" cy="401216"/>
            <a:chOff x="8470120" y="3791774"/>
            <a:chExt cx="2492474" cy="632298"/>
          </a:xfrm>
        </p:grpSpPr>
        <p:sp>
          <p:nvSpPr>
            <p:cNvPr id="32" name="Google Shape;296;p33"/>
            <p:cNvSpPr/>
            <p:nvPr/>
          </p:nvSpPr>
          <p:spPr>
            <a:xfrm>
              <a:off x="8743186" y="3859866"/>
              <a:ext cx="2219408" cy="515566"/>
            </a:xfrm>
            <a:prstGeom prst="chevron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GO LIVE</a:t>
              </a:r>
              <a:endPara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97;p33"/>
            <p:cNvSpPr/>
            <p:nvPr/>
          </p:nvSpPr>
          <p:spPr>
            <a:xfrm>
              <a:off x="8470120" y="3791774"/>
              <a:ext cx="550333" cy="632298"/>
            </a:xfrm>
            <a:prstGeom prst="flowChartDecision">
              <a:avLst/>
            </a:prstGeom>
            <a:solidFill>
              <a:srgbClr val="595959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nl-BE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Calibri"/>
                  <a:sym typeface="Calibri"/>
                </a:rPr>
                <a:t>4</a:t>
              </a:r>
              <a:endPara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34" name="Google Shape;288;p33"/>
          <p:cNvSpPr/>
          <p:nvPr/>
        </p:nvSpPr>
        <p:spPr>
          <a:xfrm>
            <a:off x="22975" y="5358364"/>
            <a:ext cx="507298" cy="401216"/>
          </a:xfrm>
          <a:prstGeom prst="flowChartDecision">
            <a:avLst/>
          </a:prstGeom>
          <a:solidFill>
            <a:srgbClr val="595959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0</a:t>
            </a:r>
            <a:endParaRPr kumimoji="0" sz="11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294;p33"/>
          <p:cNvSpPr/>
          <p:nvPr/>
        </p:nvSpPr>
        <p:spPr>
          <a:xfrm>
            <a:off x="9822408" y="5352193"/>
            <a:ext cx="507298" cy="401216"/>
          </a:xfrm>
          <a:prstGeom prst="flowChartDecision">
            <a:avLst/>
          </a:prstGeom>
          <a:solidFill>
            <a:srgbClr val="595959"/>
          </a:solidFill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5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" name="Rechthoek 1"/>
          <p:cNvSpPr/>
          <p:nvPr/>
        </p:nvSpPr>
        <p:spPr>
          <a:xfrm>
            <a:off x="3787307" y="5261854"/>
            <a:ext cx="755019" cy="991164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nl-B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nl-BE" dirty="0">
              <a:solidFill>
                <a:srgbClr val="FFFFFF"/>
              </a:solidFill>
              <a:latin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nl-BE" sz="1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nl-BE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130529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8700911" cy="891020"/>
          </a:xfrm>
        </p:spPr>
        <p:txBody>
          <a:bodyPr>
            <a:normAutofit/>
          </a:bodyPr>
          <a:lstStyle/>
          <a:p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INHOUD - PID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sz="2000" dirty="0"/>
              <a:t>Project </a:t>
            </a:r>
            <a:r>
              <a:rPr lang="nl-BE" sz="2000" dirty="0" err="1"/>
              <a:t>description</a:t>
            </a:r>
            <a:r>
              <a:rPr lang="nl-BE" sz="2000" dirty="0"/>
              <a:t> / Strategic fit</a:t>
            </a:r>
          </a:p>
          <a:p>
            <a:r>
              <a:rPr lang="nl-BE" sz="2000" dirty="0"/>
              <a:t>General objective / Scope</a:t>
            </a:r>
          </a:p>
          <a:p>
            <a:r>
              <a:rPr lang="nl-BE" sz="2000" dirty="0" err="1"/>
              <a:t>Expected</a:t>
            </a:r>
            <a:r>
              <a:rPr lang="nl-BE" sz="2000" dirty="0"/>
              <a:t> benefits</a:t>
            </a:r>
          </a:p>
          <a:p>
            <a:r>
              <a:rPr lang="nl-BE" sz="2000" dirty="0"/>
              <a:t>Project resources</a:t>
            </a:r>
          </a:p>
          <a:p>
            <a:r>
              <a:rPr lang="nl-BE" sz="2000" dirty="0"/>
              <a:t>Planning </a:t>
            </a:r>
          </a:p>
          <a:p>
            <a:r>
              <a:rPr lang="nl-BE" sz="2000" dirty="0" err="1"/>
              <a:t>Organization</a:t>
            </a:r>
            <a:endParaRPr lang="nl-BE" sz="2000" dirty="0"/>
          </a:p>
          <a:p>
            <a:r>
              <a:rPr lang="nl-BE" sz="2000" dirty="0"/>
              <a:t>DPIA &amp; Enterprise Architecture</a:t>
            </a:r>
          </a:p>
          <a:p>
            <a:r>
              <a:rPr lang="nl-BE" sz="2000" dirty="0" err="1"/>
              <a:t>Risks</a:t>
            </a:r>
            <a:endParaRPr lang="nl-BE" sz="2000" dirty="0"/>
          </a:p>
          <a:p>
            <a:endParaRPr lang="nl-BE" dirty="0"/>
          </a:p>
          <a:p>
            <a:pPr marL="114300" indent="0">
              <a:buNone/>
            </a:pPr>
            <a:endParaRPr lang="nl-BE" dirty="0"/>
          </a:p>
          <a:p>
            <a:pPr marL="114300" indent="0">
              <a:buNone/>
            </a:pPr>
            <a:endParaRPr lang="nl-BE" dirty="0"/>
          </a:p>
          <a:p>
            <a:pPr marL="114300" indent="0">
              <a:buNone/>
            </a:pPr>
            <a:endParaRPr lang="nl-BE" dirty="0"/>
          </a:p>
          <a:p>
            <a:pPr marL="0" indent="0">
              <a:buNone/>
            </a:pPr>
            <a:endParaRPr lang="nl-BE" dirty="0"/>
          </a:p>
          <a:p>
            <a:endParaRPr lang="nl-BE" dirty="0"/>
          </a:p>
        </p:txBody>
      </p:sp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8026400" y="1122087"/>
          <a:ext cx="3647552" cy="497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350">
                  <a:extLst>
                    <a:ext uri="{9D8B030D-6E8A-4147-A177-3AD203B41FA5}">
                      <a16:colId xmlns:a16="http://schemas.microsoft.com/office/drawing/2014/main" val="2584268751"/>
                    </a:ext>
                  </a:extLst>
                </a:gridCol>
                <a:gridCol w="2120202">
                  <a:extLst>
                    <a:ext uri="{9D8B030D-6E8A-4147-A177-3AD203B41FA5}">
                      <a16:colId xmlns:a16="http://schemas.microsoft.com/office/drawing/2014/main" val="2763214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BE" sz="11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100" dirty="0"/>
                        <a:t>INITIATE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80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100" b="1" dirty="0"/>
                        <a:t>Doel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nl-BE" sz="1050" dirty="0"/>
                        <a:t>Creatie van een draagvlak voor het project, waarbij men zich bewust wordt van het werk om tot een bepaald projectresultaat</a:t>
                      </a:r>
                      <a:r>
                        <a:rPr lang="nl-BE" sz="1050" baseline="0" dirty="0"/>
                        <a:t> te komen vóór de uitgave wordt toegezegd.</a:t>
                      </a:r>
                      <a:endParaRPr lang="nl-B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602680"/>
                  </a:ext>
                </a:extLst>
              </a:tr>
              <a:tr h="2369258">
                <a:tc>
                  <a:txBody>
                    <a:bodyPr/>
                    <a:lstStyle/>
                    <a:p>
                      <a:pPr algn="r"/>
                      <a:r>
                        <a:rPr lang="nl-BE" sz="1100" b="1" dirty="0"/>
                        <a:t>Key activiteiten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Opstarten beperkt projectteam – kick off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Aftoetsen van een aantal assumpties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Uitwerking doelstellingen en verwachte voordelen.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Business case: assistentie / validatie via Controlling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Resources: assistentie / validatie via IT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Architecturale check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Haalbaarheid project en risico’s in kaart brengen.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Planning deliverables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Stakeholders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Verdere project aanpak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05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Monitor &amp; Control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6486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100" b="1" dirty="0"/>
                        <a:t>Key output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l-BE" sz="1050" dirty="0"/>
                        <a:t>Goedgekeurd</a:t>
                      </a:r>
                      <a:r>
                        <a:rPr lang="nl-BE" sz="1050" baseline="0" dirty="0"/>
                        <a:t> PID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431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nl-BE" sz="1100" b="1" dirty="0"/>
                        <a:t>Goedkeurder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nl-BE" sz="1050" baseline="0" dirty="0"/>
                        <a:t>PMO Board / CEO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325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484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598053" y="179843"/>
            <a:ext cx="8700911" cy="80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PROJECT DESCRIPTION – STRATEGIC FIT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598053" y="1194420"/>
          <a:ext cx="10694425" cy="256478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430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</a:rPr>
                        <a:t>DESCRIPTION OF THE PROJECT (PURPOSE / CONTEXT)</a:t>
                      </a: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Beschrijf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welk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probleem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of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opportuniteit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opgelost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/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benut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kan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worden</a:t>
                      </a:r>
                      <a:r>
                        <a:rPr lang="en-US" sz="1200" b="0" i="1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/>
                          <a:sym typeface="Arial"/>
                        </a:rPr>
                        <a:t>.</a:t>
                      </a:r>
                      <a:endParaRPr lang="en-US" sz="1100" b="1" i="1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6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dirty="0"/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oogle Shape;123;p18"/>
          <p:cNvGraphicFramePr/>
          <p:nvPr/>
        </p:nvGraphicFramePr>
        <p:xfrm>
          <a:off x="598053" y="3759200"/>
          <a:ext cx="10694425" cy="25803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0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</a:rPr>
                        <a:t>STRATEGIC</a:t>
                      </a:r>
                      <a:r>
                        <a:rPr lang="nl-BE" sz="1200" b="1" baseline="0" dirty="0">
                          <a:solidFill>
                            <a:schemeClr val="lt1"/>
                          </a:solidFill>
                        </a:rPr>
                        <a:t> FIT</a:t>
                      </a:r>
                    </a:p>
                  </a:txBody>
                  <a:tcPr marL="91450" marR="91450" marT="45725" marB="4572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1" u="none" strike="noStrike" kern="1200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Beschrijf</a:t>
                      </a:r>
                      <a:r>
                        <a:rPr lang="en-US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hoe het</a:t>
                      </a:r>
                      <a:r>
                        <a:rPr lang="en-US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kern="1200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projectvoorstel</a:t>
                      </a:r>
                      <a:r>
                        <a:rPr lang="en-US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past</a:t>
                      </a:r>
                      <a:r>
                        <a:rPr lang="en-US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200" b="0" i="1" u="none" strike="noStrike" kern="1200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binnen</a:t>
                      </a:r>
                      <a:r>
                        <a:rPr lang="en-US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de </a:t>
                      </a:r>
                      <a:r>
                        <a:rPr lang="en-US" sz="1200" b="0" i="1" u="none" strike="noStrike" kern="1200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strategie</a:t>
                      </a:r>
                      <a:r>
                        <a:rPr lang="en-US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 van Roularta.</a:t>
                      </a:r>
                      <a:endParaRPr lang="en-US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12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199" y="276946"/>
            <a:ext cx="8700911" cy="49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GENERAL OBJECTIVE OF THE PROJECT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838200" y="1416093"/>
          <a:ext cx="10694425" cy="1645940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OBJECTIVE 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02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Formulering van de algemene projectdoelstelling, tracht dit op een SMART manier te doen. Een aantal componenten worden verder in de PID meer in detail uitgewerkt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S: </a:t>
                      </a:r>
                      <a:r>
                        <a:rPr lang="nl-BE" sz="1200" b="0" i="1" u="none" strike="noStrike" kern="1200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Specific</a:t>
                      </a: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(</a:t>
                      </a: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wat wil je precies bereiken) – scope kan in de sectie “scope of </a:t>
                      </a:r>
                      <a:r>
                        <a:rPr lang="nl-BE" sz="1200" b="0" i="1" u="none" strike="noStrike" kern="1200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the</a:t>
                      </a: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project toegelicht worden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M:Measurable (koppel cijfers aan je doelen, hetzij percentages of vaste cijfers) – meer detail kan in de sectie “expected benefits” toegelicht worden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A: Acceptable (streef naar acceptatie van de betrokkenen bij de gestelde doelen – mocht hier een issue zijn, beschrijf hoe dit aangepakt wordt)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R: Realistisch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T: Tijdsgebonden (wat is het tijdskader van het project – meer detail kan in de sectie “planning” toegelicht worden</a:t>
                      </a:r>
                      <a:endParaRPr lang="nl-BE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10"/>
          <p:cNvGraphicFramePr>
            <a:graphicFrameLocks noGrp="1"/>
          </p:cNvGraphicFramePr>
          <p:nvPr/>
        </p:nvGraphicFramePr>
        <p:xfrm>
          <a:off x="838199" y="4700954"/>
          <a:ext cx="10694425" cy="1589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4701">
                  <a:extLst>
                    <a:ext uri="{9D8B030D-6E8A-4147-A177-3AD203B41FA5}">
                      <a16:colId xmlns:a16="http://schemas.microsoft.com/office/drawing/2014/main" val="1882508104"/>
                    </a:ext>
                  </a:extLst>
                </a:gridCol>
              </a:tblGrid>
              <a:tr h="216631">
                <a:tc gridSpan="2">
                  <a:txBody>
                    <a:bodyPr/>
                    <a:lstStyle>
                      <a:lvl1pPr marL="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nl-BE" sz="1200" b="1" i="0" u="none" strike="noStrike" cap="none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Describe</a:t>
                      </a: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nl-BE" sz="1200" b="1" i="0" u="none" strike="noStrike" cap="none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how</a:t>
                      </a: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 the project result </a:t>
                      </a:r>
                      <a:r>
                        <a:rPr lang="nl-BE" sz="1200" b="1" i="0" u="none" strike="noStrike" cap="none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will</a:t>
                      </a: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nl-BE" sz="1200" b="1" i="0" u="none" strike="noStrike" cap="none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be</a:t>
                      </a: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 </a:t>
                      </a:r>
                      <a:r>
                        <a:rPr lang="nl-BE" sz="1200" b="1" i="0" u="none" strike="noStrike" cap="none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integrated</a:t>
                      </a: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 in the </a:t>
                      </a:r>
                      <a:r>
                        <a:rPr lang="nl-BE" sz="1200" b="1" i="0" u="none" strike="noStrike" cap="none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organization</a:t>
                      </a: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 + follow up </a:t>
                      </a:r>
                      <a:r>
                        <a:rPr lang="nl-BE" sz="1200" b="1" i="0" u="none" strike="noStrike" cap="none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KPI’s</a:t>
                      </a:r>
                      <a:endParaRPr lang="nl-BE" sz="1200" b="1" i="0" u="none" strike="noStrike" cap="none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T="34291" marB="34291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 sz="1200" dirty="0"/>
                    </a:p>
                  </a:txBody>
                  <a:tcPr marT="34291" marB="3429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737">
                <a:tc>
                  <a:txBody>
                    <a:bodyPr/>
                    <a:lstStyle/>
                    <a:p>
                      <a:endParaRPr lang="nl-BE" sz="1200" b="0" dirty="0"/>
                    </a:p>
                  </a:txBody>
                  <a:tcPr marT="34291" marB="3429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84623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nl-BE" sz="1200" b="0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How?</a:t>
                      </a:r>
                    </a:p>
                  </a:txBody>
                  <a:tcPr marT="34291" marB="3429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56122"/>
                  </a:ext>
                </a:extLst>
              </a:tr>
              <a:tr h="301911">
                <a:tc>
                  <a:txBody>
                    <a:bodyPr/>
                    <a:lstStyle>
                      <a:lvl1pPr marL="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42311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846234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269351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1692470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115587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2538703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2961822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3384939" algn="l" defTabSz="846234" rtl="0" eaLnBrk="1" latinLnBrk="0" hangingPunct="1">
                        <a:defRPr sz="17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r>
                        <a:rPr lang="nl-BE" sz="1200" b="0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Integration in </a:t>
                      </a:r>
                      <a:r>
                        <a:rPr lang="nl-BE" sz="1200" b="0" i="0" u="none" strike="noStrike" kern="1200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Organization</a:t>
                      </a:r>
                      <a:endParaRPr lang="nl-BE" sz="1200" b="0" i="0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T="34291" marB="3429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84623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nl-BE" sz="1200" b="0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x</a:t>
                      </a:r>
                    </a:p>
                  </a:txBody>
                  <a:tcPr marT="34291" marB="3429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657">
                <a:tc>
                  <a:txBody>
                    <a:bodyPr/>
                    <a:lstStyle/>
                    <a:p>
                      <a:pPr marL="0" marR="0" algn="l" defTabSz="846234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nl-BE" sz="1200" b="0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Follow up </a:t>
                      </a:r>
                      <a:r>
                        <a:rPr lang="nl-BE" sz="1200" b="0" i="0" u="none" strike="noStrike" kern="1200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KPI’s</a:t>
                      </a:r>
                      <a:endParaRPr lang="nl-BE" sz="1200" b="0" i="0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T="34291" marB="34291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dirty="0"/>
                        <a:t>x</a:t>
                      </a:r>
                    </a:p>
                  </a:txBody>
                  <a:tcPr marT="34291" marB="34291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57953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9199C2-6259-E4DB-34F1-C530235CEC8C}"/>
              </a:ext>
            </a:extLst>
          </p:cNvPr>
          <p:cNvGraphicFramePr>
            <a:graphicFrameLocks noGrp="1"/>
          </p:cNvGraphicFramePr>
          <p:nvPr/>
        </p:nvGraphicFramePr>
        <p:xfrm>
          <a:off x="832339" y="3326716"/>
          <a:ext cx="10700286" cy="110955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343292">
                  <a:extLst>
                    <a:ext uri="{9D8B030D-6E8A-4147-A177-3AD203B41FA5}">
                      <a16:colId xmlns:a16="http://schemas.microsoft.com/office/drawing/2014/main" val="2857413920"/>
                    </a:ext>
                  </a:extLst>
                </a:gridCol>
                <a:gridCol w="1356994">
                  <a:extLst>
                    <a:ext uri="{9D8B030D-6E8A-4147-A177-3AD203B41FA5}">
                      <a16:colId xmlns:a16="http://schemas.microsoft.com/office/drawing/2014/main" val="133959450"/>
                    </a:ext>
                  </a:extLst>
                </a:gridCol>
              </a:tblGrid>
              <a:tr h="265493">
                <a:tc>
                  <a:txBody>
                    <a:bodyPr/>
                    <a:lstStyle/>
                    <a:p>
                      <a:r>
                        <a:rPr lang="nl-BE" sz="1200" b="1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SCOPE OF THE PROJECT</a:t>
                      </a:r>
                      <a:endParaRPr lang="en-BE" sz="1200" b="1" i="0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1" i="0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BE / NL / BENE</a:t>
                      </a:r>
                      <a:endParaRPr lang="en-BE" sz="1200" b="1" i="0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953454"/>
                  </a:ext>
                </a:extLst>
              </a:tr>
              <a:tr h="432735">
                <a:tc>
                  <a:txBody>
                    <a:bodyPr/>
                    <a:lstStyle/>
                    <a:p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In scope: Geef de reikwijdte van je project aan. </a:t>
                      </a:r>
                      <a:endParaRPr lang="en-BE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XXX</a:t>
                      </a:r>
                      <a:endParaRPr lang="en-BE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353155"/>
                  </a:ext>
                </a:extLst>
              </a:tr>
              <a:tr h="402500">
                <a:tc gridSpan="2">
                  <a:txBody>
                    <a:bodyPr/>
                    <a:lstStyle/>
                    <a:p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Out of scope : sluit binnen de gedefinieerde scope verwarring of assumpties uit door zaken die niet opgenomen zijn expliciet te benoemen.</a:t>
                      </a:r>
                      <a:endParaRPr lang="en-BE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E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0855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199" y="284730"/>
            <a:ext cx="8700911" cy="480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EXPECTED BENEFITS OF THE PROJECT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838199" y="1094546"/>
          <a:ext cx="10694425" cy="1485928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7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QUANTITATIVE / FINANCIAL BENEFITS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59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Beschrijf de verwachte kwantitatieve en financiële opbrengsten na de realisatie van het project.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Arial"/>
                        </a:rPr>
                        <a:t>M.a.w. wat is de totale kost/investering vs. benefit (omzet stijging of kostdaling/reorganisatie). Formuleer </a:t>
                      </a: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als KPI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Idealiter vertaal je dit in een Business Case /</a:t>
                      </a:r>
                      <a:r>
                        <a:rPr lang="nl-BE" sz="1200" b="0" i="1" u="none" strike="noStrike" kern="1200" cap="none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Business Controlling kan je hierbij helpen.</a:t>
                      </a:r>
                      <a:endParaRPr lang="nl-BE" sz="1200" b="0" i="1" u="none" strike="noStrike" kern="1200" cap="none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BE" sz="1200" b="0" i="0" u="none" strike="noStrike" kern="1200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Google Shape;123;p18"/>
          <p:cNvGraphicFramePr/>
          <p:nvPr/>
        </p:nvGraphicFramePr>
        <p:xfrm>
          <a:off x="838199" y="2909999"/>
          <a:ext cx="10694425" cy="1488829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61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EXPECTED RECURRING</a:t>
                      </a:r>
                      <a:r>
                        <a:rPr lang="nl-BE" sz="1200" b="1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COST AFTER GO LIVE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44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nl-BE" sz="1200" b="0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Beschrijving van de eventuele nieuwe wederkerende / operationele kosten, alsook de vereiste maintenance of aandacht binnen de organisatie.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BE" sz="1200" i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oogle Shape;123;p18"/>
          <p:cNvGraphicFramePr/>
          <p:nvPr/>
        </p:nvGraphicFramePr>
        <p:xfrm>
          <a:off x="838199" y="4822839"/>
          <a:ext cx="10694425" cy="1618203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384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QUALITATIVE BENEFITS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38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x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6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198" y="245052"/>
            <a:ext cx="8700911" cy="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PROJECT RESOURCES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" name="Google Shape;123;p18"/>
          <p:cNvGraphicFramePr/>
          <p:nvPr>
            <p:extLst>
              <p:ext uri="{D42A27DB-BD31-4B8C-83A1-F6EECF244321}">
                <p14:modId xmlns:p14="http://schemas.microsoft.com/office/powerpoint/2010/main" val="4063401812"/>
              </p:ext>
            </p:extLst>
          </p:nvPr>
        </p:nvGraphicFramePr>
        <p:xfrm>
          <a:off x="838198" y="4714791"/>
          <a:ext cx="11097255" cy="1109045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1097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5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RESOURCES – BUILD / REALISATION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7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Eerste inschatting van de effort (range) om het project te realiseren met de informatie waarover men momenteel beschikt. 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0" i="1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Uiteraard heeft men vaak na de analysefase een juister beeld van het vereist build-budget.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Google Shape;123;p18">
            <a:extLst>
              <a:ext uri="{FF2B5EF4-FFF2-40B4-BE49-F238E27FC236}">
                <a16:creationId xmlns:a16="http://schemas.microsoft.com/office/drawing/2014/main" id="{398E9580-BC75-FF8D-E72A-E80D00686B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9480932"/>
              </p:ext>
            </p:extLst>
          </p:nvPr>
        </p:nvGraphicFramePr>
        <p:xfrm>
          <a:off x="838198" y="793548"/>
          <a:ext cx="11097255" cy="3814752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002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170">
                  <a:extLst>
                    <a:ext uri="{9D8B030D-6E8A-4147-A177-3AD203B41FA5}">
                      <a16:colId xmlns:a16="http://schemas.microsoft.com/office/drawing/2014/main" val="565634779"/>
                    </a:ext>
                  </a:extLst>
                </a:gridCol>
                <a:gridCol w="2008822">
                  <a:extLst>
                    <a:ext uri="{9D8B030D-6E8A-4147-A177-3AD203B41FA5}">
                      <a16:colId xmlns:a16="http://schemas.microsoft.com/office/drawing/2014/main" val="46461514"/>
                    </a:ext>
                  </a:extLst>
                </a:gridCol>
                <a:gridCol w="945177">
                  <a:extLst>
                    <a:ext uri="{9D8B030D-6E8A-4147-A177-3AD203B41FA5}">
                      <a16:colId xmlns:a16="http://schemas.microsoft.com/office/drawing/2014/main" val="78809652"/>
                    </a:ext>
                  </a:extLst>
                </a:gridCol>
                <a:gridCol w="974530">
                  <a:extLst>
                    <a:ext uri="{9D8B030D-6E8A-4147-A177-3AD203B41FA5}">
                      <a16:colId xmlns:a16="http://schemas.microsoft.com/office/drawing/2014/main" val="450931752"/>
                    </a:ext>
                  </a:extLst>
                </a:gridCol>
                <a:gridCol w="5104697">
                  <a:extLst>
                    <a:ext uri="{9D8B030D-6E8A-4147-A177-3AD203B41FA5}">
                      <a16:colId xmlns:a16="http://schemas.microsoft.com/office/drawing/2014/main" val="2496193189"/>
                    </a:ext>
                  </a:extLst>
                </a:gridCol>
              </a:tblGrid>
              <a:tr h="241651">
                <a:tc gridSpan="6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RESOURCES – </a:t>
                      </a:r>
                      <a:r>
                        <a:rPr lang="en-BE" sz="1200" b="1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ANALYSIS</a:t>
                      </a:r>
                      <a:endParaRPr sz="1200" b="1" dirty="0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lt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5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1"/>
                        <a:t>MD </a:t>
                      </a:r>
                      <a:endParaRPr sz="1200" b="1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BE" sz="1200" b="1"/>
                        <a:t>K</a:t>
                      </a:r>
                      <a:r>
                        <a:rPr lang="nl-BE" sz="1200" b="1"/>
                        <a:t>€ </a:t>
                      </a:r>
                      <a:endParaRPr sz="1200" b="1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200" b="1"/>
                        <a:t>Info</a:t>
                      </a:r>
                      <a:endParaRPr sz="1200" b="1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138742"/>
                  </a:ext>
                </a:extLst>
              </a:tr>
              <a:tr h="234995">
                <a:tc row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200" b="1" dirty="0"/>
                        <a:t>Interne MD</a:t>
                      </a: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200" dirty="0"/>
                        <a:t>Billable MD </a:t>
                      </a: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200"/>
                        <a:t>IT</a:t>
                      </a:r>
                      <a:r>
                        <a:rPr lang="nl-NL" sz="1200"/>
                        <a:t> DEV</a:t>
                      </a: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191504"/>
                  </a:ext>
                </a:extLst>
              </a:tr>
              <a:tr h="226142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200" dirty="0"/>
                        <a:t>Cycles</a:t>
                      </a: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17737"/>
                  </a:ext>
                </a:extLst>
              </a:tr>
              <a:tr h="233506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200"/>
                        <a:t>PMO</a:t>
                      </a: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b="1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381146"/>
                  </a:ext>
                </a:extLst>
              </a:tr>
              <a:tr h="210291">
                <a:tc v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BE" sz="1200" dirty="0"/>
                        <a:t>Non-Billable MD</a:t>
                      </a:r>
                      <a:endParaRPr lang="nl-BE" sz="1200" dirty="0"/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200" dirty="0"/>
                        <a:t>Other RMG</a:t>
                      </a:r>
                      <a:br>
                        <a:rPr sz="1200" dirty="0"/>
                      </a:br>
                      <a:endParaRPr sz="12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BE" sz="1200" dirty="0"/>
                        <a:t>IT EA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BE" sz="1200" dirty="0"/>
                        <a:t>IT Infra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BE" sz="1200" dirty="0"/>
                        <a:t>...</a:t>
                      </a:r>
                      <a:br>
                        <a:rPr lang="en-BE" sz="1200" dirty="0"/>
                      </a:br>
                      <a:endParaRPr lang="nl-BE"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BE" sz="1200" b="0" dirty="0"/>
                        <a:t>x</a:t>
                      </a:r>
                      <a:endParaRPr lang="nl-NL" sz="1200" b="0" dirty="0"/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BE" sz="120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957341"/>
                  </a:ext>
                </a:extLst>
              </a:tr>
              <a:tr h="306731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200" b="1" dirty="0" err="1"/>
                        <a:t>Totaal</a:t>
                      </a:r>
                      <a:r>
                        <a:rPr sz="1200" b="1" dirty="0"/>
                        <a:t> INTERN RMG</a:t>
                      </a: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577665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30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3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3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3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806941"/>
                  </a:ext>
                </a:extLst>
              </a:tr>
              <a:tr h="348725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BE" sz="1200" b="1" dirty="0" err="1"/>
                        <a:t>Totaal</a:t>
                      </a:r>
                      <a:r>
                        <a:rPr lang="en-BE" sz="1200" b="1" dirty="0"/>
                        <a:t> </a:t>
                      </a:r>
                      <a:r>
                        <a:rPr lang="nl-BE" sz="1200" b="1" dirty="0"/>
                        <a:t>Externe Resources</a:t>
                      </a:r>
                      <a:endParaRPr sz="1200" b="1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00" i="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71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20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2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20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2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783294"/>
                  </a:ext>
                </a:extLst>
              </a:tr>
              <a:tr h="339816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sz="1200" b="1" dirty="0" err="1"/>
                        <a:t>Totaal</a:t>
                      </a:r>
                      <a:r>
                        <a:rPr sz="1200" b="1" dirty="0"/>
                        <a:t> </a:t>
                      </a:r>
                      <a:r>
                        <a:rPr lang="nl-NL" sz="1200" b="1" dirty="0"/>
                        <a:t>ANALYSE</a:t>
                      </a:r>
                      <a:endParaRPr sz="1200" b="1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200" b="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NL" sz="1200" b="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200"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472403"/>
                  </a:ext>
                </a:extLst>
              </a:tr>
            </a:tbl>
          </a:graphicData>
        </a:graphic>
      </p:graphicFrame>
      <p:sp>
        <p:nvSpPr>
          <p:cNvPr id="3" name="Tekstvak 2">
            <a:extLst>
              <a:ext uri="{FF2B5EF4-FFF2-40B4-BE49-F238E27FC236}">
                <a16:creationId xmlns:a16="http://schemas.microsoft.com/office/drawing/2014/main" id="{873BF639-EE58-A27C-572F-5914C8EE4787}"/>
              </a:ext>
            </a:extLst>
          </p:cNvPr>
          <p:cNvSpPr txBox="1"/>
          <p:nvPr/>
        </p:nvSpPr>
        <p:spPr>
          <a:xfrm>
            <a:off x="838198" y="6062052"/>
            <a:ext cx="11097255" cy="707886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BE" sz="1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Calibri"/>
                <a:cs typeface="Calibri"/>
                <a:sym typeface="Arial"/>
              </a:rPr>
              <a:t>Toelichting bij Project Resources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rial"/>
                <a:ea typeface="Calibri"/>
                <a:cs typeface="Calibri"/>
                <a:sym typeface="Arial"/>
              </a:rPr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Prijs interne MD (202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6)</a:t>
            </a:r>
            <a: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: 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910</a:t>
            </a:r>
            <a: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€ / MD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voor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profielen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binnen IT DEV, Cycles en PMO (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zgn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.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medewerkers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die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aan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T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ijdsregistratie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binnen JIRA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doen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)</a:t>
            </a:r>
            <a:endParaRPr kumimoji="0" lang="nl-BE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Calibri"/>
              <a:cs typeface="Calibri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De effort van de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overige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interne project</a:t>
            </a:r>
            <a: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resources dien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en </a:t>
            </a:r>
            <a:r>
              <a:rPr kumimoji="0" lang="nl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ook in kaart gebracht worden 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maar worden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financieel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niet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doorbelast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naar het project,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te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vermelden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onder</a:t>
            </a:r>
            <a:r>
              <a:rPr kumimoji="0" lang="en-BE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“other RMG”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Opgelet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: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elke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gevraagde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interne resource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dient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vooraf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door de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betrokkene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én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zijn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leidinggevende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gecommitteerd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te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worden, in het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bijzonder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tbv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de </a:t>
            </a:r>
            <a:r>
              <a:rPr kumimoji="0" lang="en-BE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opbouw</a:t>
            </a:r>
            <a:r>
              <a:rPr kumimoji="0" lang="en-BE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Calibri"/>
                <a:sym typeface="Arial"/>
              </a:rPr>
              <a:t> van de planning.</a:t>
            </a:r>
            <a:endParaRPr kumimoji="0" lang="nl-BE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0179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8700911" cy="429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PLANNING: DELIVERABLES &amp; MILESTONES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35" name="Google Shape;135;p20"/>
          <p:cNvGraphicFramePr/>
          <p:nvPr/>
        </p:nvGraphicFramePr>
        <p:xfrm>
          <a:off x="838200" y="1165394"/>
          <a:ext cx="10693400" cy="2966800"/>
        </p:xfrm>
        <a:graphic>
          <a:graphicData uri="http://schemas.openxmlformats.org/drawingml/2006/table">
            <a:tbl>
              <a:tblPr firstRow="1" bandRow="1">
                <a:noFill/>
                <a:tableStyleId>{46466540-DBD0-4E14-94ED-1DB77FA02914}</a:tableStyleId>
              </a:tblPr>
              <a:tblGrid>
                <a:gridCol w="553720">
                  <a:extLst>
                    <a:ext uri="{9D8B030D-6E8A-4147-A177-3AD203B41FA5}">
                      <a16:colId xmlns:a16="http://schemas.microsoft.com/office/drawing/2014/main" val="3284466062"/>
                    </a:ext>
                  </a:extLst>
                </a:gridCol>
                <a:gridCol w="703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MILESTONE DURING</a:t>
                      </a:r>
                      <a:r>
                        <a:rPr lang="nl-BE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ANALYSIS PHASE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DATE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 DATE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" name="Google Shape;135;p20"/>
          <p:cNvGraphicFramePr/>
          <p:nvPr/>
        </p:nvGraphicFramePr>
        <p:xfrm>
          <a:off x="838200" y="4605743"/>
          <a:ext cx="10693400" cy="1097320"/>
        </p:xfrm>
        <a:graphic>
          <a:graphicData uri="http://schemas.openxmlformats.org/drawingml/2006/table">
            <a:tbl>
              <a:tblPr firstRow="1" bandRow="1">
                <a:noFill/>
                <a:tableStyleId>{46466540-DBD0-4E14-94ED-1DB77FA02914}</a:tableStyleId>
              </a:tblPr>
              <a:tblGrid>
                <a:gridCol w="553720">
                  <a:extLst>
                    <a:ext uri="{9D8B030D-6E8A-4147-A177-3AD203B41FA5}">
                      <a16:colId xmlns:a16="http://schemas.microsoft.com/office/drawing/2014/main" val="3284466062"/>
                    </a:ext>
                  </a:extLst>
                </a:gridCol>
                <a:gridCol w="7031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3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3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24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NR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MILESTONE DURING</a:t>
                      </a:r>
                      <a:r>
                        <a:rPr lang="nl-BE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BUILD PHASE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DATE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 DATE</a:t>
                      </a: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4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4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733829" y="355890"/>
            <a:ext cx="8700911" cy="586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ORGANIZATION – PHASE ANALYSIS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47" name="Google Shape;147;p22"/>
          <p:cNvGraphicFramePr/>
          <p:nvPr/>
        </p:nvGraphicFramePr>
        <p:xfrm>
          <a:off x="733829" y="1442648"/>
          <a:ext cx="11170920" cy="3667870"/>
        </p:xfrm>
        <a:graphic>
          <a:graphicData uri="http://schemas.openxmlformats.org/drawingml/2006/table">
            <a:tbl>
              <a:tblPr firstRow="1" bandRow="1">
                <a:noFill/>
                <a:tableStyleId>{46466540-DBD0-4E14-94ED-1DB77FA02914}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ROLE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NAMES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PROJECT SPONSOR</a:t>
                      </a: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nl-BE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PRODUCT MANAGER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89406129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nl-BE" sz="1200" b="0" i="0" u="none" strike="noStrike" cap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PRODUCT OWNER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7152304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nl-BE" sz="1200" dirty="0"/>
                        <a:t>PROJECT</a:t>
                      </a:r>
                      <a:r>
                        <a:rPr lang="nl-BE" sz="1200" baseline="0" dirty="0"/>
                        <a:t> MANAGER 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2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8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74921273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nl-BE" sz="1200" dirty="0"/>
                        <a:t>STEERCO / ROLE</a:t>
                      </a:r>
                      <a:endParaRPr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8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4857443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PROJECT</a:t>
                      </a:r>
                      <a:r>
                        <a:rPr lang="nl-BE" sz="1200" baseline="0" dirty="0"/>
                        <a:t> TEAM / ROLE</a:t>
                      </a: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02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42697351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STAKEHOLDER</a:t>
                      </a:r>
                      <a:r>
                        <a:rPr lang="nl-BE" sz="1200" baseline="0" dirty="0"/>
                        <a:t> GROUP</a:t>
                      </a: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3576834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700911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DPIA &amp; ENTERPRISE ARCHITECTURE IMPACT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" name="Google Shape;169;p24"/>
          <p:cNvGraphicFramePr/>
          <p:nvPr/>
        </p:nvGraphicFramePr>
        <p:xfrm>
          <a:off x="838200" y="1487224"/>
          <a:ext cx="10694425" cy="2291100"/>
        </p:xfrm>
        <a:graphic>
          <a:graphicData uri="http://schemas.openxmlformats.org/drawingml/2006/table">
            <a:tbl>
              <a:tblPr firstRow="1"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DPIA (Data </a:t>
                      </a:r>
                      <a:r>
                        <a:rPr lang="nl-BE" sz="1200" dirty="0" err="1"/>
                        <a:t>Protection</a:t>
                      </a:r>
                      <a:r>
                        <a:rPr lang="nl-BE" sz="1200" dirty="0"/>
                        <a:t> Impact Assessment)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DPIA is vereist in de volgende gevallen:</a:t>
                      </a:r>
                      <a:endParaRPr lang="en-BE" sz="1200" i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BE" sz="1200" i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een </a:t>
                      </a:r>
                      <a:r>
                        <a:rPr lang="nl-BE" sz="1200" b="1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geautomatiseerde evaluatie / profilering</a:t>
                      </a:r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van de persoonlijke aspecten van een individu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verwerking van </a:t>
                      </a:r>
                      <a:r>
                        <a:rPr lang="nl-BE" sz="1200" b="1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gevoelige gegevens</a:t>
                      </a:r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(</a:t>
                      </a:r>
                      <a:r>
                        <a:rPr lang="nl-BE" sz="1200" i="1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bijv</a:t>
                      </a:r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: biometrische gegevens, informatie verzameld bij derden, gezondheidsgegevens, informatie over inkomen, gedrag, voorkeuren en interesses, locatie of verplaatsingen, privé-activiteiten, gegevens gegenereerd door sensoren, telefonie- internet of andere communicatiegegevens, …)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systematische </a:t>
                      </a:r>
                      <a:r>
                        <a:rPr lang="nl-BE" sz="1200" b="1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monitoring</a:t>
                      </a:r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van openbare ruimten </a:t>
                      </a:r>
                      <a:endParaRPr lang="nl-BE" sz="1200" b="0" i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1200" b="1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Matching of samenvoeging</a:t>
                      </a:r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 van datasets met persoonsgegevens</a:t>
                      </a:r>
                      <a:endParaRPr lang="en-BE" sz="1200" i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BE" sz="1200" i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r>
                        <a:rPr lang="nl-BE" sz="1200" i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(Voor vragen of hulp bij het uitvoeren van de DPIA, contacteer Peter Thiers)</a:t>
                      </a:r>
                      <a:br>
                        <a:rPr lang="nl-BE" sz="1200" dirty="0"/>
                      </a:b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Google Shape;169;p24">
            <a:extLst>
              <a:ext uri="{FF2B5EF4-FFF2-40B4-BE49-F238E27FC236}">
                <a16:creationId xmlns:a16="http://schemas.microsoft.com/office/drawing/2014/main" id="{E5FDE6EC-A6A9-0036-2667-86D70A572FEB}"/>
              </a:ext>
            </a:extLst>
          </p:cNvPr>
          <p:cNvGraphicFramePr/>
          <p:nvPr/>
        </p:nvGraphicFramePr>
        <p:xfrm>
          <a:off x="838199" y="4016488"/>
          <a:ext cx="10694425" cy="2291099"/>
        </p:xfrm>
        <a:graphic>
          <a:graphicData uri="http://schemas.openxmlformats.org/drawingml/2006/table">
            <a:tbl>
              <a:tblPr firstRow="1" bandRow="1">
                <a:noFill/>
                <a:tableStyleId>{46466540-DBD0-4E14-94ED-1DB77FA02914}</a:tableStyleId>
              </a:tblPr>
              <a:tblGrid>
                <a:gridCol w="1069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761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IMPACT</a:t>
                      </a:r>
                      <a:r>
                        <a:rPr lang="nl-BE" sz="1200" baseline="0" dirty="0"/>
                        <a:t> ON ARCHITECTURE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3481">
                <a:tc>
                  <a:txBody>
                    <a:bodyPr/>
                    <a:lstStyle/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nl-BE" sz="1200" dirty="0"/>
                        <a:t>Wat zijn de conclusies na de </a:t>
                      </a:r>
                      <a:r>
                        <a:rPr lang="nl-BE" sz="1200"/>
                        <a:t>pré-architecturale checklist?</a:t>
                      </a:r>
                      <a:br>
                        <a:rPr lang="nl-BE" sz="1200" dirty="0"/>
                      </a:br>
                      <a:br>
                        <a:rPr lang="nl-BE" sz="1200" dirty="0"/>
                      </a:br>
                      <a:br>
                        <a:rPr lang="nl-BE" sz="1200" dirty="0"/>
                      </a:br>
                      <a:br>
                        <a:rPr lang="nl-BE" sz="1200" dirty="0"/>
                      </a:br>
                      <a:br>
                        <a:rPr lang="nl-BE" sz="1200" dirty="0"/>
                      </a:br>
                      <a:br>
                        <a:rPr lang="nl-BE" sz="1200" dirty="0"/>
                      </a:b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083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700911" cy="493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MAIN RISKS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69" name="Google Shape;169;p24"/>
          <p:cNvGraphicFramePr/>
          <p:nvPr/>
        </p:nvGraphicFramePr>
        <p:xfrm>
          <a:off x="838200" y="1373838"/>
          <a:ext cx="10694425" cy="1752640"/>
        </p:xfrm>
        <a:graphic>
          <a:graphicData uri="http://schemas.openxmlformats.org/drawingml/2006/table">
            <a:tbl>
              <a:tblPr firstRow="1" bandRow="1">
                <a:noFill/>
                <a:tableStyleId>{46466540-DBD0-4E14-94ED-1DB77FA02914}</a:tableStyleId>
              </a:tblPr>
              <a:tblGrid>
                <a:gridCol w="487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2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60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MAIN RISK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PROBABILITY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IMPACT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dirty="0"/>
                        <a:t>RECOMMENDATION / MITIGATION</a:t>
                      </a:r>
                      <a:endParaRPr sz="1200" dirty="0"/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BE" sz="1200" i="1" dirty="0"/>
                        <a:t>High</a:t>
                      </a:r>
                      <a:r>
                        <a:rPr lang="nl-BE" sz="1200" i="1" baseline="0" dirty="0"/>
                        <a:t> / Medium / Low</a:t>
                      </a:r>
                      <a:endParaRPr sz="1200" i="1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nl-BE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cs typeface="Calibri"/>
                          <a:sym typeface="Arial"/>
                        </a:rPr>
                        <a:t>High / Medium / Low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8700911" cy="55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nl-BE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VALIDATION CONCLUSIONS INITIATION PHASE / APPROVAL NEXT PHASE 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23" name="Google Shape;123;p18"/>
          <p:cNvGraphicFramePr/>
          <p:nvPr/>
        </p:nvGraphicFramePr>
        <p:xfrm>
          <a:off x="838200" y="1622419"/>
          <a:ext cx="2449945" cy="1645739"/>
        </p:xfrm>
        <a:graphic>
          <a:graphicData uri="http://schemas.openxmlformats.org/drawingml/2006/table">
            <a:tbl>
              <a:tblPr bandRow="1">
                <a:noFill/>
                <a:tableStyleId>{46466540-DBD0-4E14-94ED-1DB77FA02914}</a:tableStyleId>
              </a:tblPr>
              <a:tblGrid>
                <a:gridCol w="1572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454">
                  <a:extLst>
                    <a:ext uri="{9D8B030D-6E8A-4147-A177-3AD203B41FA5}">
                      <a16:colId xmlns:a16="http://schemas.microsoft.com/office/drawing/2014/main" val="3259453271"/>
                    </a:ext>
                  </a:extLst>
                </a:gridCol>
              </a:tblGrid>
              <a:tr h="41005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nl-BE" sz="1200" b="1" i="0" u="none" strike="noStrike" cap="none" dirty="0" err="1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Approval</a:t>
                      </a:r>
                      <a:endParaRPr sz="1200" b="1" i="0" u="none" strike="noStrike" cap="none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Check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nl-BE" sz="1200" b="1" i="0" u="none" strike="noStrike" cap="none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  <a:sym typeface="Arial"/>
                        </a:rPr>
                        <a:t>box</a:t>
                      </a:r>
                      <a:endParaRPr sz="1200" b="1" i="0" u="none" strike="noStrike" cap="none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  <a:sym typeface="Arial"/>
                      </a:endParaRPr>
                    </a:p>
                  </a:txBody>
                  <a:tcPr marL="91450" marR="91450" marT="45725" marB="45725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nl-BE" sz="1050" i="1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050" dirty="0"/>
                        <a:t>PMO</a:t>
                      </a:r>
                      <a:r>
                        <a:rPr lang="nl-BE" sz="1050" baseline="0" dirty="0"/>
                        <a:t> </a:t>
                      </a:r>
                      <a:r>
                        <a:rPr lang="nl-BE" sz="1050" dirty="0"/>
                        <a:t>BOARD</a:t>
                      </a:r>
                      <a:r>
                        <a:rPr lang="nl-BE" sz="1050" baseline="0" dirty="0"/>
                        <a:t> / </a:t>
                      </a:r>
                      <a:r>
                        <a:rPr lang="nl-BE" sz="1050" dirty="0"/>
                        <a:t>CEO</a:t>
                      </a:r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8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sz="1050" dirty="0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050" dirty="0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32886"/>
                  </a:ext>
                </a:extLst>
              </a:tr>
              <a:tr h="37588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nl-BE" sz="1050" dirty="0"/>
                        <a:t>PROJECT OWNER</a:t>
                      </a:r>
                      <a:endParaRPr sz="105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050" dirty="0"/>
                    </a:p>
                  </a:txBody>
                  <a:tcPr marL="91450" marR="91450" marT="45725" marB="457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9277937"/>
                  </a:ext>
                </a:extLst>
              </a:tr>
            </a:tbl>
          </a:graphicData>
        </a:graphic>
      </p:graphicFrame>
      <p:sp>
        <p:nvSpPr>
          <p:cNvPr id="2" name="Rechthoek 1"/>
          <p:cNvSpPr/>
          <p:nvPr/>
        </p:nvSpPr>
        <p:spPr>
          <a:xfrm>
            <a:off x="3546763" y="2079593"/>
            <a:ext cx="8146473" cy="3786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Rechthoek 4"/>
          <p:cNvSpPr/>
          <p:nvPr/>
        </p:nvSpPr>
        <p:spPr>
          <a:xfrm>
            <a:off x="3546763" y="2903297"/>
            <a:ext cx="8146473" cy="378691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Rechthoek 5"/>
          <p:cNvSpPr/>
          <p:nvPr/>
        </p:nvSpPr>
        <p:spPr>
          <a:xfrm>
            <a:off x="838200" y="4299478"/>
            <a:ext cx="10855036" cy="128852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l-BE" dirty="0">
                <a:solidFill>
                  <a:schemeClr val="tx1"/>
                </a:solidFill>
              </a:rPr>
              <a:t>Remarks:</a:t>
            </a:r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122" y="1234571"/>
            <a:ext cx="335088" cy="352383"/>
          </a:xfrm>
          <a:prstGeom prst="rect">
            <a:avLst/>
          </a:prstGeom>
        </p:spPr>
      </p:pic>
      <p:pic>
        <p:nvPicPr>
          <p:cNvPr id="4" name="Afbeelding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251" y="1234571"/>
            <a:ext cx="306704" cy="35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46584"/>
      </p:ext>
    </p:extLst>
  </p:cSld>
  <p:clrMapOvr>
    <a:masterClrMapping/>
  </p:clrMapOvr>
</p:sld>
</file>

<file path=ppt/theme/theme1.xml><?xml version="1.0" encoding="utf-8"?>
<a:theme xmlns:a="http://schemas.openxmlformats.org/drawingml/2006/main" name="2_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842044B8B7084EA4187CF37BA6A7D9" ma:contentTypeVersion="12" ma:contentTypeDescription="Een nieuw document maken." ma:contentTypeScope="" ma:versionID="556a6f47daf0b9dda5660849dd9722aa">
  <xsd:schema xmlns:xsd="http://www.w3.org/2001/XMLSchema" xmlns:xs="http://www.w3.org/2001/XMLSchema" xmlns:p="http://schemas.microsoft.com/office/2006/metadata/properties" xmlns:ns2="37d6ac44-9212-4376-af1b-3a59e959c005" xmlns:ns3="4c375c2a-581d-47b8-9c20-98927d1bb37d" targetNamespace="http://schemas.microsoft.com/office/2006/metadata/properties" ma:root="true" ma:fieldsID="847165117bc7be340de87f94620427c8" ns2:_="" ns3:_="">
    <xsd:import namespace="37d6ac44-9212-4376-af1b-3a59e959c005"/>
    <xsd:import namespace="4c375c2a-581d-47b8-9c20-98927d1bb37d"/>
    <xsd:element name="properties">
      <xsd:complexType>
        <xsd:sequence>
          <xsd:element name="documentManagement">
            <xsd:complexType>
              <xsd:all>
                <xsd:element ref="ns2:Toelichting" minOccurs="0"/>
                <xsd:element ref="ns2:Tonenin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d6ac44-9212-4376-af1b-3a59e959c005" elementFormDefault="qualified">
    <xsd:import namespace="http://schemas.microsoft.com/office/2006/documentManagement/types"/>
    <xsd:import namespace="http://schemas.microsoft.com/office/infopath/2007/PartnerControls"/>
    <xsd:element name="Toelichting" ma:index="8" nillable="true" ma:displayName="Toelichting" ma:format="Dropdown" ma:internalName="Toelichting">
      <xsd:simpleType>
        <xsd:restriction base="dms:Note">
          <xsd:maxLength value="255"/>
        </xsd:restriction>
      </xsd:simpleType>
    </xsd:element>
    <xsd:element name="Tonenin" ma:index="9" nillable="true" ma:displayName="Tonen in" ma:description="Waar moet deze map getoond worden" ma:format="Dropdown" ma:internalName="Tonenin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75c2a-581d-47b8-9c20-98927d1bb37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oelichting xmlns="37d6ac44-9212-4376-af1b-3a59e959c005" xsi:nil="true"/>
    <Tonenin xmlns="37d6ac44-9212-4376-af1b-3a59e959c005" xsi:nil="true"/>
  </documentManagement>
</p:properties>
</file>

<file path=customXml/itemProps1.xml><?xml version="1.0" encoding="utf-8"?>
<ds:datastoreItem xmlns:ds="http://schemas.openxmlformats.org/officeDocument/2006/customXml" ds:itemID="{C80BFCC2-5E3C-4CB2-A98E-D0B073298E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d6ac44-9212-4376-af1b-3a59e959c005"/>
    <ds:schemaRef ds:uri="4c375c2a-581d-47b8-9c20-98927d1bb3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378D272-3DDC-464F-8389-F74649E1EAD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B6E6CE-D137-4CDB-BEF2-67A3372003A0}">
  <ds:schemaRefs>
    <ds:schemaRef ds:uri="http://schemas.microsoft.com/office/2006/documentManagement/types"/>
    <ds:schemaRef ds:uri="37d6ac44-9212-4376-af1b-3a59e959c005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4c375c2a-581d-47b8-9c20-98927d1bb37d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879</Words>
  <Application>Microsoft Office PowerPoint</Application>
  <PresentationFormat>Breedbeeld</PresentationFormat>
  <Paragraphs>156</Paragraphs>
  <Slides>11</Slides>
  <Notes>10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2" baseType="lpstr">
      <vt:lpstr>2_Kantoorthema</vt:lpstr>
      <vt:lpstr>PMO Board dd/mm/yy PROJECT INITIATION DOCUMENT (PID)</vt:lpstr>
      <vt:lpstr>INHOUD - PID</vt:lpstr>
      <vt:lpstr>PROJECT DESCRIPTION – STRATEGIC FIT</vt:lpstr>
      <vt:lpstr>GENERAL OBJECTIVE OF THE PROJECT</vt:lpstr>
      <vt:lpstr>EXPECTED BENEFITS OF THE PROJECT</vt:lpstr>
      <vt:lpstr>PROJECT RESOURCES</vt:lpstr>
      <vt:lpstr>PLANNING: DELIVERABLES &amp; MILESTONES</vt:lpstr>
      <vt:lpstr>ORGANIZATION – PHASE ANALYSIS</vt:lpstr>
      <vt:lpstr>DPIA &amp; ENTERPRISE ARCHITECTURE IMPACT </vt:lpstr>
      <vt:lpstr>MAIN RISKS</vt:lpstr>
      <vt:lpstr>VALIDATION CONCLUSIONS INITIATION PHASE / APPROVAL NEXT PHASE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PMO – PROJECT CHARTER</dc:title>
  <dc:creator>Bart Kerckx</dc:creator>
  <cp:lastModifiedBy>Bart Kerckx</cp:lastModifiedBy>
  <cp:revision>91</cp:revision>
  <dcterms:modified xsi:type="dcterms:W3CDTF">2026-08-28T14:28:20Z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0x01010025842044B8B7084EA4187CF37BA6A7D9</vt:lpwstr>
  </property>
  <property fmtid="{D5CDD505-2E9C-101B-9397-08002B2CF9AE}" pid="3" name="Order">
    <vt:r8>2300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SIP_Label_d70c5331-32c3-44e8-93df-4eee0e376e6f_Enabled">
    <vt:lpwstr>true</vt:lpwstr>
  </property>
  <property fmtid="{D5CDD505-2E9C-101B-9397-08002B2CF9AE}" pid="11" name="MSIP_Label_d70c5331-32c3-44e8-93df-4eee0e376e6f_SetDate">
    <vt:lpwstr>2025-03-31T16:53:06Z</vt:lpwstr>
  </property>
  <property fmtid="{D5CDD505-2E9C-101B-9397-08002B2CF9AE}" pid="12" name="MSIP_Label_d70c5331-32c3-44e8-93df-4eee0e376e6f_Method">
    <vt:lpwstr>Privileged</vt:lpwstr>
  </property>
  <property fmtid="{D5CDD505-2E9C-101B-9397-08002B2CF9AE}" pid="13" name="MSIP_Label_d70c5331-32c3-44e8-93df-4eee0e376e6f_Name">
    <vt:lpwstr>Public</vt:lpwstr>
  </property>
  <property fmtid="{D5CDD505-2E9C-101B-9397-08002B2CF9AE}" pid="14" name="MSIP_Label_d70c5331-32c3-44e8-93df-4eee0e376e6f_SiteId">
    <vt:lpwstr>3a5d6220-ba2e-4fd9-a8e3-ac0115fe397a</vt:lpwstr>
  </property>
  <property fmtid="{D5CDD505-2E9C-101B-9397-08002B2CF9AE}" pid="15" name="MSIP_Label_d70c5331-32c3-44e8-93df-4eee0e376e6f_ActionId">
    <vt:lpwstr>bd4c1984-3c68-4d63-8ba3-019cd94a0ab2</vt:lpwstr>
  </property>
  <property fmtid="{D5CDD505-2E9C-101B-9397-08002B2CF9AE}" pid="16" name="MSIP_Label_d70c5331-32c3-44e8-93df-4eee0e376e6f_ContentBits">
    <vt:lpwstr>0</vt:lpwstr>
  </property>
  <property fmtid="{D5CDD505-2E9C-101B-9397-08002B2CF9AE}" pid="17" name="MSIP_Label_d70c5331-32c3-44e8-93df-4eee0e376e6f_Tag">
    <vt:lpwstr>10, 0, 1, 1</vt:lpwstr>
  </property>
</Properties>
</file>
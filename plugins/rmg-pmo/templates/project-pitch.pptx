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</p:sldMasterIdLst>
  <p:notesMasterIdLst>
    <p:notesMasterId r:id="rId8"/>
  </p:notesMasterIdLst>
  <p:sldIdLst>
    <p:sldId id="256" r:id="rId5"/>
    <p:sldId id="273" r:id="rId6"/>
    <p:sldId id="272" r:id="rId7"/>
  </p:sldIdLst>
  <p:sldSz cx="12192000" cy="68580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19D682-3BAC-F678-CD45-5B66744B54C8}" v="2" dt="2026-06-22T16:17:38.438"/>
  </p1510:revLst>
</p1510:revInfo>
</file>

<file path=ppt/tableStyles.xml><?xml version="1.0" encoding="utf-8"?>
<a:tblStyleLst xmlns:a="http://schemas.openxmlformats.org/drawingml/2006/main" def="{71E4AE52-08E6-454C-BC5B-38916D7E3711}">
  <a:tblStyle styleId="{71E4AE52-08E6-454C-BC5B-38916D7E371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3390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‹#›</a:t>
            </a:fld>
            <a:endParaRPr lang="nl-BE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6475" y="127353"/>
            <a:ext cx="21526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3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700911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‹#›</a:t>
            </a:fld>
            <a:endParaRPr lang="nl-BE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022" y="113859"/>
            <a:ext cx="21526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454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903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665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7061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05115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54190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18148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7550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2350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4AF3B-3090-4698-9A35-C72A68FCE017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46855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1524000" y="1893455"/>
            <a:ext cx="9144000" cy="161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nl-BE" sz="4800" b="1" dirty="0"/>
              <a:t>PMO  </a:t>
            </a:r>
            <a:br>
              <a:rPr lang="nl-BE" sz="4800" b="1" dirty="0"/>
            </a:br>
            <a:r>
              <a:rPr lang="nl-BE" sz="4800" b="1" dirty="0"/>
              <a:t>PROJECT PITCH</a:t>
            </a:r>
            <a:endParaRPr sz="4800" b="1" dirty="0"/>
          </a:p>
        </p:txBody>
      </p:sp>
      <p:sp>
        <p:nvSpPr>
          <p:cNvPr id="5" name="Google Shape;97;p14"/>
          <p:cNvSpPr txBox="1"/>
          <p:nvPr/>
        </p:nvSpPr>
        <p:spPr>
          <a:xfrm>
            <a:off x="1382369" y="3922618"/>
            <a:ext cx="9144000" cy="80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3600"/>
              <a:buFont typeface="Calibri"/>
            </a:pPr>
            <a:r>
              <a:rPr lang="nl-BE" sz="36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Project Name</a:t>
            </a:r>
            <a:endParaRPr lang="nl-BE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buClr>
                <a:schemeClr val="dk1"/>
              </a:buClr>
              <a:buSzPts val="3600"/>
            </a:pPr>
            <a:r>
              <a:rPr lang="nl-BE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xx/xx/</a:t>
            </a:r>
            <a:r>
              <a:rPr lang="nl-BE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xxxx</a:t>
            </a:r>
            <a:endParaRPr lang="nl-BE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85;p33"/>
          <p:cNvSpPr/>
          <p:nvPr/>
        </p:nvSpPr>
        <p:spPr>
          <a:xfrm>
            <a:off x="1184269" y="5389228"/>
            <a:ext cx="1935983" cy="327145"/>
          </a:xfrm>
          <a:prstGeom prst="homePlate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DISCOVER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" name="Google Shape;286;p33"/>
          <p:cNvGrpSpPr/>
          <p:nvPr/>
        </p:nvGrpSpPr>
        <p:grpSpPr>
          <a:xfrm>
            <a:off x="2793205" y="5321136"/>
            <a:ext cx="2292450" cy="401216"/>
            <a:chOff x="2488747" y="3791774"/>
            <a:chExt cx="2486921" cy="632298"/>
          </a:xfrm>
        </p:grpSpPr>
        <p:sp>
          <p:nvSpPr>
            <p:cNvPr id="22" name="Google Shape;287;p33"/>
            <p:cNvSpPr/>
            <p:nvPr/>
          </p:nvSpPr>
          <p:spPr>
            <a:xfrm>
              <a:off x="2756260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INITIATE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88;p33"/>
            <p:cNvSpPr/>
            <p:nvPr/>
          </p:nvSpPr>
          <p:spPr>
            <a:xfrm>
              <a:off x="2488747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" name="Google Shape;289;p33"/>
          <p:cNvGrpSpPr/>
          <p:nvPr/>
        </p:nvGrpSpPr>
        <p:grpSpPr>
          <a:xfrm>
            <a:off x="4781193" y="5321136"/>
            <a:ext cx="2299506" cy="401216"/>
            <a:chOff x="4476735" y="3791774"/>
            <a:chExt cx="2494575" cy="632298"/>
          </a:xfrm>
        </p:grpSpPr>
        <p:sp>
          <p:nvSpPr>
            <p:cNvPr id="25" name="Google Shape;290;p33"/>
            <p:cNvSpPr/>
            <p:nvPr/>
          </p:nvSpPr>
          <p:spPr>
            <a:xfrm>
              <a:off x="4751902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ANALYSE</a:t>
              </a:r>
              <a:endPara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91;p33"/>
            <p:cNvSpPr/>
            <p:nvPr/>
          </p:nvSpPr>
          <p:spPr>
            <a:xfrm>
              <a:off x="4476735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7" name="Google Shape;292;p33"/>
          <p:cNvGrpSpPr/>
          <p:nvPr/>
        </p:nvGrpSpPr>
        <p:grpSpPr>
          <a:xfrm>
            <a:off x="6828234" y="5321136"/>
            <a:ext cx="2252125" cy="401216"/>
            <a:chOff x="6523777" y="3791774"/>
            <a:chExt cx="2443175" cy="632298"/>
          </a:xfrm>
        </p:grpSpPr>
        <p:sp>
          <p:nvSpPr>
            <p:cNvPr id="28" name="Google Shape;293;p33"/>
            <p:cNvSpPr/>
            <p:nvPr/>
          </p:nvSpPr>
          <p:spPr>
            <a:xfrm>
              <a:off x="6747544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BUILD</a:t>
              </a:r>
              <a:endPara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4;p33"/>
            <p:cNvSpPr/>
            <p:nvPr/>
          </p:nvSpPr>
          <p:spPr>
            <a:xfrm>
              <a:off x="6523777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0" name="Google Shape;295;p33"/>
          <p:cNvGrpSpPr/>
          <p:nvPr/>
        </p:nvGrpSpPr>
        <p:grpSpPr>
          <a:xfrm>
            <a:off x="8774577" y="5321136"/>
            <a:ext cx="2297569" cy="401216"/>
            <a:chOff x="8470120" y="3791774"/>
            <a:chExt cx="2492474" cy="632298"/>
          </a:xfrm>
        </p:grpSpPr>
        <p:sp>
          <p:nvSpPr>
            <p:cNvPr id="31" name="Google Shape;296;p33"/>
            <p:cNvSpPr/>
            <p:nvPr/>
          </p:nvSpPr>
          <p:spPr>
            <a:xfrm>
              <a:off x="8743186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GO LIVE</a:t>
              </a:r>
              <a:endPara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97;p33"/>
            <p:cNvSpPr/>
            <p:nvPr/>
          </p:nvSpPr>
          <p:spPr>
            <a:xfrm>
              <a:off x="8470120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  <a:sym typeface="Calibri"/>
                </a:rPr>
                <a:t>4</a:t>
              </a:r>
              <a:endPara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33" name="Google Shape;288;p33"/>
          <p:cNvSpPr/>
          <p:nvPr/>
        </p:nvSpPr>
        <p:spPr>
          <a:xfrm>
            <a:off x="872687" y="5358171"/>
            <a:ext cx="507298" cy="401216"/>
          </a:xfrm>
          <a:prstGeom prst="flowChartDecision">
            <a:avLst/>
          </a:prstGeom>
          <a:solidFill>
            <a:srgbClr val="595959"/>
          </a:solidFill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0</a:t>
            </a: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294;p33"/>
          <p:cNvSpPr/>
          <p:nvPr/>
        </p:nvSpPr>
        <p:spPr>
          <a:xfrm>
            <a:off x="10695095" y="5321136"/>
            <a:ext cx="507298" cy="401216"/>
          </a:xfrm>
          <a:prstGeom prst="flowChartDecision">
            <a:avLst/>
          </a:prstGeom>
          <a:solidFill>
            <a:srgbClr val="595959"/>
          </a:solidFill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5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5" name="Rechthoek 34"/>
          <p:cNvSpPr/>
          <p:nvPr/>
        </p:nvSpPr>
        <p:spPr>
          <a:xfrm>
            <a:off x="2662289" y="5270850"/>
            <a:ext cx="755019" cy="581891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nl-BE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18944"/>
            <a:ext cx="8700911" cy="558510"/>
          </a:xfrm>
        </p:spPr>
        <p:txBody>
          <a:bodyPr>
            <a:normAutofit/>
          </a:bodyPr>
          <a:lstStyle/>
          <a:p>
            <a:r>
              <a:rPr lang="nl-BE" sz="2000" b="1" dirty="0">
                <a:solidFill>
                  <a:srgbClr val="EE0600"/>
                </a:solidFill>
              </a:rPr>
              <a:t>INHOUD – PROJECT PITCH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sz="2000" dirty="0"/>
              <a:t>Project </a:t>
            </a:r>
            <a:r>
              <a:rPr lang="nl-BE" sz="2000" dirty="0" err="1"/>
              <a:t>Description</a:t>
            </a:r>
            <a:endParaRPr lang="nl-BE" sz="2000" dirty="0"/>
          </a:p>
          <a:p>
            <a:r>
              <a:rPr lang="nl-BE" sz="2000" dirty="0" err="1"/>
              <a:t>Assumptions</a:t>
            </a:r>
            <a:endParaRPr lang="nl-BE" sz="2000" dirty="0"/>
          </a:p>
          <a:p>
            <a:r>
              <a:rPr lang="nl-BE" sz="2000" dirty="0"/>
              <a:t>Strategic fit</a:t>
            </a:r>
          </a:p>
          <a:p>
            <a:r>
              <a:rPr lang="nl-BE" sz="2000" dirty="0"/>
              <a:t>Project </a:t>
            </a:r>
            <a:r>
              <a:rPr lang="nl-BE" sz="2000" dirty="0" err="1"/>
              <a:t>size</a:t>
            </a:r>
            <a:r>
              <a:rPr lang="nl-BE" sz="2000" dirty="0"/>
              <a:t> / </a:t>
            </a:r>
            <a:r>
              <a:rPr lang="nl-BE" sz="2000" dirty="0" err="1"/>
              <a:t>complexity</a:t>
            </a:r>
            <a:endParaRPr lang="nl-BE" sz="2000" dirty="0"/>
          </a:p>
          <a:p>
            <a:pPr marL="114300" indent="0">
              <a:buNone/>
            </a:pPr>
            <a:endParaRPr lang="nl-BE" dirty="0"/>
          </a:p>
          <a:p>
            <a:pPr marL="114300" indent="0">
              <a:buNone/>
            </a:pPr>
            <a:endParaRPr lang="nl-BE" dirty="0"/>
          </a:p>
          <a:p>
            <a:endParaRPr lang="nl-BE" dirty="0"/>
          </a:p>
          <a:p>
            <a:pPr marL="114300" indent="0">
              <a:buNone/>
            </a:pPr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211133"/>
              </p:ext>
            </p:extLst>
          </p:nvPr>
        </p:nvGraphicFramePr>
        <p:xfrm>
          <a:off x="7490691" y="1426888"/>
          <a:ext cx="4200922" cy="2704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923">
                  <a:extLst>
                    <a:ext uri="{9D8B030D-6E8A-4147-A177-3AD203B41FA5}">
                      <a16:colId xmlns:a16="http://schemas.microsoft.com/office/drawing/2014/main" val="2584268751"/>
                    </a:ext>
                  </a:extLst>
                </a:gridCol>
                <a:gridCol w="2436999">
                  <a:extLst>
                    <a:ext uri="{9D8B030D-6E8A-4147-A177-3AD203B41FA5}">
                      <a16:colId xmlns:a16="http://schemas.microsoft.com/office/drawing/2014/main" val="11462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BE" sz="105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050" dirty="0"/>
                        <a:t>DISCOVER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801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nl-BE" sz="1050" b="1" dirty="0"/>
                        <a:t>Doel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BE" sz="1000" dirty="0"/>
                        <a:t>Ontdekken en</a:t>
                      </a:r>
                      <a:r>
                        <a:rPr lang="nl-BE" sz="1000" baseline="0" dirty="0"/>
                        <a:t> screenen</a:t>
                      </a:r>
                      <a:r>
                        <a:rPr lang="nl-BE" sz="1000" dirty="0"/>
                        <a:t> van </a:t>
                      </a:r>
                      <a:r>
                        <a:rPr lang="nl-BE" sz="1000" baseline="0" dirty="0"/>
                        <a:t>opportuniteiten of bedreigingen. Eerste aftoetsing of dit zich vertaalt tot een project op de roadmap.</a:t>
                      </a:r>
                      <a:endParaRPr lang="nl-B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602680"/>
                  </a:ext>
                </a:extLst>
              </a:tr>
              <a:tr h="890977">
                <a:tc>
                  <a:txBody>
                    <a:bodyPr/>
                    <a:lstStyle/>
                    <a:p>
                      <a:pPr algn="r"/>
                      <a:r>
                        <a:rPr lang="nl-BE" sz="1050" b="1" dirty="0"/>
                        <a:t>Key activiteiten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dirty="0"/>
                        <a:t>High level beschrijving</a:t>
                      </a:r>
                      <a:r>
                        <a:rPr lang="nl-BE" sz="1000" baseline="0" dirty="0"/>
                        <a:t> context.</a:t>
                      </a:r>
                      <a:endParaRPr lang="nl-BE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dirty="0"/>
                        <a:t>Aftoetsen aan</a:t>
                      </a:r>
                      <a:r>
                        <a:rPr lang="nl-BE" sz="1000" baseline="0" dirty="0"/>
                        <a:t> de strategische doelstellingen van Roularta.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baseline="0" dirty="0"/>
                        <a:t>High level inschatten van de complexiteit en omvang.</a:t>
                      </a:r>
                      <a:endParaRPr lang="nl-B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48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nl-BE" sz="1050" b="1" dirty="0"/>
                        <a:t>Key output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dirty="0"/>
                        <a:t>Goedgekeurd</a:t>
                      </a:r>
                      <a:r>
                        <a:rPr lang="nl-BE" sz="1000" baseline="0" dirty="0"/>
                        <a:t> Project Pitch</a:t>
                      </a:r>
                      <a:endParaRPr lang="nl-B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43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nl-BE" sz="1050" b="1" dirty="0"/>
                        <a:t>Goedkeurder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00" dirty="0"/>
                        <a:t>PPM / CIO / Project 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325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285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700911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rgbClr val="EE0600"/>
                </a:solidFill>
              </a:rPr>
              <a:t>PROJECT DESCRIPTION – ASSUMPTIONS - STRATEGIC FIT - SIZE</a:t>
            </a:r>
            <a:endParaRPr sz="2000" b="1" dirty="0">
              <a:solidFill>
                <a:srgbClr val="EE0600"/>
              </a:solidFill>
            </a:endParaRPr>
          </a:p>
        </p:txBody>
      </p:sp>
      <p:graphicFrame>
        <p:nvGraphicFramePr>
          <p:cNvPr id="4" name="Google Shape;123;p18"/>
          <p:cNvGraphicFramePr/>
          <p:nvPr>
            <p:extLst>
              <p:ext uri="{D42A27DB-BD31-4B8C-83A1-F6EECF244321}">
                <p14:modId xmlns:p14="http://schemas.microsoft.com/office/powerpoint/2010/main" val="746032292"/>
              </p:ext>
            </p:extLst>
          </p:nvPr>
        </p:nvGraphicFramePr>
        <p:xfrm>
          <a:off x="838199" y="1075255"/>
          <a:ext cx="10694425" cy="1344363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117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SHORT DESCRIPTION OF THE PROJECT (PURPOSE / CONTEXT)</a:t>
                      </a:r>
                    </a:p>
                  </a:txBody>
                  <a:tcPr marL="91450" marR="91450" marT="45725" marB="45725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52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1" u="none" strike="noStrike" cap="none" dirty="0" err="1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oogle Shape;123;p18"/>
          <p:cNvGraphicFramePr/>
          <p:nvPr>
            <p:extLst>
              <p:ext uri="{D42A27DB-BD31-4B8C-83A1-F6EECF244321}">
                <p14:modId xmlns:p14="http://schemas.microsoft.com/office/powerpoint/2010/main" val="3066032976"/>
              </p:ext>
            </p:extLst>
          </p:nvPr>
        </p:nvGraphicFramePr>
        <p:xfrm>
          <a:off x="838197" y="2585300"/>
          <a:ext cx="10694425" cy="11250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42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lt1"/>
                          </a:solidFill>
                        </a:rPr>
                        <a:t>ASSUMPTIONS</a:t>
                      </a:r>
                      <a:r>
                        <a:rPr lang="en-US" sz="1100" b="1" baseline="0" dirty="0">
                          <a:solidFill>
                            <a:schemeClr val="lt1"/>
                          </a:solidFill>
                        </a:rPr>
                        <a:t> TO BE INVESTIGATED</a:t>
                      </a:r>
                      <a:endParaRPr lang="en-US" sz="11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596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1" u="none" strike="noStrike" cap="none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oogle Shape;123;p18"/>
          <p:cNvGraphicFramePr/>
          <p:nvPr>
            <p:extLst>
              <p:ext uri="{D42A27DB-BD31-4B8C-83A1-F6EECF244321}">
                <p14:modId xmlns:p14="http://schemas.microsoft.com/office/powerpoint/2010/main" val="2841624110"/>
              </p:ext>
            </p:extLst>
          </p:nvPr>
        </p:nvGraphicFramePr>
        <p:xfrm>
          <a:off x="839304" y="3865218"/>
          <a:ext cx="10694425" cy="920191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86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chemeClr val="lt1"/>
                          </a:solidFill>
                        </a:rPr>
                        <a:t>STRATEGIC</a:t>
                      </a:r>
                      <a:r>
                        <a:rPr lang="en-US" sz="1050" b="1" baseline="0" dirty="0">
                          <a:solidFill>
                            <a:schemeClr val="lt1"/>
                          </a:solidFill>
                        </a:rPr>
                        <a:t> FIT</a:t>
                      </a:r>
                    </a:p>
                  </a:txBody>
                  <a:tcPr marL="91450" marR="91450" marT="45725" marB="45725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3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1" u="none" strike="noStrike" cap="none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Google Shape;123;p18"/>
          <p:cNvGraphicFramePr/>
          <p:nvPr>
            <p:extLst>
              <p:ext uri="{D42A27DB-BD31-4B8C-83A1-F6EECF244321}">
                <p14:modId xmlns:p14="http://schemas.microsoft.com/office/powerpoint/2010/main" val="249615057"/>
              </p:ext>
            </p:extLst>
          </p:nvPr>
        </p:nvGraphicFramePr>
        <p:xfrm>
          <a:off x="839304" y="4936435"/>
          <a:ext cx="10694425" cy="83726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10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050" b="1" dirty="0">
                          <a:solidFill>
                            <a:schemeClr val="bg1"/>
                          </a:solidFill>
                        </a:rPr>
                        <a:t>ESTIMATED</a:t>
                      </a:r>
                      <a:r>
                        <a:rPr lang="nl-BE" sz="1050" b="1" baseline="0" dirty="0">
                          <a:solidFill>
                            <a:schemeClr val="bg1"/>
                          </a:solidFill>
                        </a:rPr>
                        <a:t> PROJECT SIZE / COMPLEXITY</a:t>
                      </a:r>
                      <a:endParaRPr lang="nl-BE"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1" u="none" strike="noStrike" cap="none" baseline="0" dirty="0">
                        <a:solidFill>
                          <a:schemeClr val="tx1"/>
                        </a:solidFill>
                        <a:effectLst/>
                        <a:latin typeface="Calibri"/>
                        <a:cs typeface="Calibri"/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Google Shape;123;p18"/>
          <p:cNvGraphicFramePr/>
          <p:nvPr>
            <p:extLst>
              <p:ext uri="{D42A27DB-BD31-4B8C-83A1-F6EECF244321}">
                <p14:modId xmlns:p14="http://schemas.microsoft.com/office/powerpoint/2010/main" val="603612700"/>
              </p:ext>
            </p:extLst>
          </p:nvPr>
        </p:nvGraphicFramePr>
        <p:xfrm>
          <a:off x="838195" y="5964534"/>
          <a:ext cx="10694426" cy="614486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5347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7213">
                  <a:extLst>
                    <a:ext uri="{9D8B030D-6E8A-4147-A177-3AD203B41FA5}">
                      <a16:colId xmlns:a16="http://schemas.microsoft.com/office/drawing/2014/main" val="2076606422"/>
                    </a:ext>
                  </a:extLst>
                </a:gridCol>
              </a:tblGrid>
              <a:tr h="2025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050" b="1" dirty="0">
                          <a:solidFill>
                            <a:schemeClr val="bg1"/>
                          </a:solidFill>
                        </a:rPr>
                        <a:t>NAMES PROPOSED PROJECT SPONSOR / PRODUCT</a:t>
                      </a:r>
                      <a:r>
                        <a:rPr lang="nl-BE" sz="1050" b="1" baseline="0" dirty="0">
                          <a:solidFill>
                            <a:schemeClr val="bg1"/>
                          </a:solidFill>
                        </a:rPr>
                        <a:t> MANAGER</a:t>
                      </a:r>
                      <a:endParaRPr lang="nl-BE"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nl-BE"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01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1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PROJECT SPONSOR:</a:t>
                      </a:r>
                      <a:r>
                        <a:rPr lang="en-US" sz="1100" b="1" i="1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100" b="1" i="1" u="none" strike="noStrike" cap="none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1" dirty="0">
                          <a:solidFill>
                            <a:schemeClr val="tx1"/>
                          </a:solidFill>
                        </a:rPr>
                        <a:t>PROPOSED PROJECT</a:t>
                      </a:r>
                      <a:r>
                        <a:rPr lang="en-US" sz="1100" b="1" i="1" baseline="0">
                          <a:solidFill>
                            <a:schemeClr val="tx1"/>
                          </a:solidFill>
                        </a:rPr>
                        <a:t> MANAGER</a:t>
                      </a:r>
                      <a:r>
                        <a:rPr lang="en-US" sz="1100" b="1" i="1">
                          <a:solidFill>
                            <a:schemeClr val="tx1"/>
                          </a:solidFill>
                        </a:rPr>
                        <a:t>: </a:t>
                      </a:r>
                      <a:endParaRPr lang="en-US" sz="1100" b="1" i="1" err="1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432925"/>
      </p:ext>
    </p:extLst>
  </p:cSld>
  <p:clrMapOvr>
    <a:masterClrMapping/>
  </p:clrMapOvr>
</p:sld>
</file>

<file path=ppt/theme/theme1.xml><?xml version="1.0" encoding="utf-8"?>
<a:theme xmlns:a="http://schemas.openxmlformats.org/drawingml/2006/main" name="2_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_x002e_Status xmlns="0efa409f-64e5-4842-85fd-b24fe3d0d30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74BC25ED7E2747A3DAC8969445F7FD" ma:contentTypeVersion="7" ma:contentTypeDescription="Een nieuw document maken." ma:contentTypeScope="" ma:versionID="e4b156104ad765b9b14226eff002e45c">
  <xsd:schema xmlns:xsd="http://www.w3.org/2001/XMLSchema" xmlns:xs="http://www.w3.org/2001/XMLSchema" xmlns:p="http://schemas.microsoft.com/office/2006/metadata/properties" xmlns:ns2="0efa409f-64e5-4842-85fd-b24fe3d0d309" xmlns:ns3="5859e197-dd60-4e90-a7a4-772ac736b1fa" targetNamespace="http://schemas.microsoft.com/office/2006/metadata/properties" ma:root="true" ma:fieldsID="181e25e540a66fcbc35ef972e115eac9" ns2:_="" ns3:_="">
    <xsd:import namespace="0efa409f-64e5-4842-85fd-b24fe3d0d309"/>
    <xsd:import namespace="5859e197-dd60-4e90-a7a4-772ac736b1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Doc_x002e_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fa409f-64e5-4842-85fd-b24fe3d0d3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oc_x002e_Status" ma:index="14" nillable="true" ma:displayName="Doc.Status" ma:format="Dropdown" ma:internalName="Doc_x002e_Status">
      <xsd:simpleType>
        <xsd:restriction base="dms:Choice">
          <xsd:enumeration value="OPEN"/>
          <xsd:enumeration value="CLOSED"/>
          <xsd:enumeration value="Keuze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59e197-dd60-4e90-a7a4-772ac736b1f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F62AB0-BE28-4F57-BE43-762D3CD7CD76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776e9fcc-0070-47b9-80a7-145c53c791fc"/>
    <ds:schemaRef ds:uri="f990aecd-18a9-4266-826d-a8643455ca2b"/>
    <ds:schemaRef ds:uri="http://schemas.openxmlformats.org/package/2006/metadata/core-properties"/>
    <ds:schemaRef ds:uri="http://purl.org/dc/dcmitype/"/>
    <ds:schemaRef ds:uri="http://purl.org/dc/terms/"/>
    <ds:schemaRef ds:uri="0efa409f-64e5-4842-85fd-b24fe3d0d309"/>
  </ds:schemaRefs>
</ds:datastoreItem>
</file>

<file path=customXml/itemProps2.xml><?xml version="1.0" encoding="utf-8"?>
<ds:datastoreItem xmlns:ds="http://schemas.openxmlformats.org/officeDocument/2006/customXml" ds:itemID="{5F506261-A623-4FE3-A5A5-D2FACC964F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73E4D8-C8CF-4AAD-BBC6-FA78E0381E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fa409f-64e5-4842-85fd-b24fe3d0d309"/>
    <ds:schemaRef ds:uri="5859e197-dd60-4e90-a7a4-772ac736b1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Widescreen</PresentationFormat>
  <Paragraphs>46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2_Kantoorthema</vt:lpstr>
      <vt:lpstr>PMO   PROJECT PITCH</vt:lpstr>
      <vt:lpstr>INHOUD – PROJECT PITCH</vt:lpstr>
      <vt:lpstr>PROJECT DESCRIPTION – ASSUMPTIONS - STRATEGIC FIT - SIZE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 – PROJECT CHARTER</dc:title>
  <dc:creator>Bart Kerckx</dc:creator>
  <cp:lastModifiedBy>Bart Kerckx</cp:lastModifiedBy>
  <cp:revision>189</cp:revision>
  <dcterms:modified xsi:type="dcterms:W3CDTF">2026-08-28T14:23:17Z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0x0101009874BC25ED7E2747A3DAC8969445F7FD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
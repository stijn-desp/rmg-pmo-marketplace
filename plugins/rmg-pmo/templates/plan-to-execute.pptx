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16"/>
  </p:notesMasterIdLst>
  <p:sldIdLst>
    <p:sldId id="283" r:id="rId5"/>
    <p:sldId id="284" r:id="rId6"/>
    <p:sldId id="274" r:id="rId7"/>
    <p:sldId id="261" r:id="rId8"/>
    <p:sldId id="287" r:id="rId9"/>
    <p:sldId id="288" r:id="rId10"/>
    <p:sldId id="285" r:id="rId11"/>
    <p:sldId id="291" r:id="rId12"/>
    <p:sldId id="292" r:id="rId13"/>
    <p:sldId id="293" r:id="rId14"/>
    <p:sldId id="275" r:id="rId15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BC711-AD2F-442C-BB3A-0F99ABCBDF31}" v="1" dt="2026-03-24T12:23:10.591"/>
  </p1510:revLst>
</p1510:revInfo>
</file>

<file path=ppt/tableStyles.xml><?xml version="1.0" encoding="utf-8"?>
<a:tblStyleLst xmlns:a="http://schemas.openxmlformats.org/drawingml/2006/main" def="{46466540-DBD0-4E14-94ED-1DB77FA02914}">
  <a:tblStyle styleId="{46466540-DBD0-4E14-94ED-1DB77FA029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209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7721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2373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2866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1809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887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8451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3422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7950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6475" y="127353"/>
            <a:ext cx="2152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92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00911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022" y="113859"/>
            <a:ext cx="2152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8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5953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693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39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2653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246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484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387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3608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1544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0281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nl-BE" sz="4800" b="1" dirty="0">
                <a:latin typeface="+mn-lt"/>
              </a:rPr>
              <a:t>PMO </a:t>
            </a:r>
            <a:r>
              <a:rPr lang="en-BE" sz="4800" b="1" dirty="0">
                <a:latin typeface="+mn-lt"/>
              </a:rPr>
              <a:t>Board dd/mm/</a:t>
            </a:r>
            <a:r>
              <a:rPr lang="en-BE" sz="4800" b="1" dirty="0" err="1">
                <a:latin typeface="+mn-lt"/>
              </a:rPr>
              <a:t>yy</a:t>
            </a:r>
            <a:br>
              <a:rPr lang="nl-BE" sz="4800" b="1" dirty="0">
                <a:latin typeface="+mn-lt"/>
              </a:rPr>
            </a:br>
            <a:r>
              <a:rPr lang="nl-BE" sz="4800" b="1" dirty="0">
                <a:latin typeface="+mn-lt"/>
              </a:rPr>
              <a:t>PROJECT PLAN TO EXECUTE</a:t>
            </a:r>
            <a:endParaRPr sz="4800" b="1" dirty="0">
              <a:latin typeface="+mn-lt"/>
            </a:endParaRPr>
          </a:p>
        </p:txBody>
      </p:sp>
      <p:sp>
        <p:nvSpPr>
          <p:cNvPr id="5" name="Google Shape;97;p14"/>
          <p:cNvSpPr txBox="1"/>
          <p:nvPr/>
        </p:nvSpPr>
        <p:spPr>
          <a:xfrm>
            <a:off x="1583871" y="4128122"/>
            <a:ext cx="9144000" cy="80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tabLst/>
              <a:defRPr/>
            </a:pPr>
            <a:r>
              <a:rPr kumimoji="0" lang="nl-BE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NAME /NR OF PROJECT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tabLst/>
              <a:defRPr/>
            </a:pPr>
            <a:r>
              <a:rPr kumimoji="0" lang="nl-BE" sz="3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PRJ00xxx.NAAM</a:t>
            </a:r>
            <a:endParaRPr kumimoji="0" sz="3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85;p33"/>
          <p:cNvSpPr/>
          <p:nvPr/>
        </p:nvSpPr>
        <p:spPr>
          <a:xfrm>
            <a:off x="1417432" y="5688985"/>
            <a:ext cx="1935983" cy="327145"/>
          </a:xfrm>
          <a:prstGeom prst="homePlate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DISCOVER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oogle Shape;286;p33"/>
          <p:cNvGrpSpPr/>
          <p:nvPr/>
        </p:nvGrpSpPr>
        <p:grpSpPr>
          <a:xfrm>
            <a:off x="3026368" y="5620893"/>
            <a:ext cx="2292450" cy="401216"/>
            <a:chOff x="2488747" y="3791774"/>
            <a:chExt cx="2486921" cy="632298"/>
          </a:xfrm>
        </p:grpSpPr>
        <p:sp>
          <p:nvSpPr>
            <p:cNvPr id="8" name="Google Shape;287;p33"/>
            <p:cNvSpPr/>
            <p:nvPr/>
          </p:nvSpPr>
          <p:spPr>
            <a:xfrm>
              <a:off x="2756260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INITIATE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88;p33"/>
            <p:cNvSpPr/>
            <p:nvPr/>
          </p:nvSpPr>
          <p:spPr>
            <a:xfrm>
              <a:off x="2488747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289;p33"/>
          <p:cNvGrpSpPr/>
          <p:nvPr/>
        </p:nvGrpSpPr>
        <p:grpSpPr>
          <a:xfrm>
            <a:off x="5014356" y="5620893"/>
            <a:ext cx="2299506" cy="401216"/>
            <a:chOff x="4476735" y="3791774"/>
            <a:chExt cx="2494575" cy="632298"/>
          </a:xfrm>
        </p:grpSpPr>
        <p:sp>
          <p:nvSpPr>
            <p:cNvPr id="11" name="Google Shape;290;p33"/>
            <p:cNvSpPr/>
            <p:nvPr/>
          </p:nvSpPr>
          <p:spPr>
            <a:xfrm>
              <a:off x="4751902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ANALYSE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1;p33"/>
            <p:cNvSpPr/>
            <p:nvPr/>
          </p:nvSpPr>
          <p:spPr>
            <a:xfrm>
              <a:off x="4476735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292;p33"/>
          <p:cNvGrpSpPr/>
          <p:nvPr/>
        </p:nvGrpSpPr>
        <p:grpSpPr>
          <a:xfrm>
            <a:off x="7061397" y="5620893"/>
            <a:ext cx="2252125" cy="401216"/>
            <a:chOff x="6523777" y="3791774"/>
            <a:chExt cx="2443175" cy="632298"/>
          </a:xfrm>
        </p:grpSpPr>
        <p:sp>
          <p:nvSpPr>
            <p:cNvPr id="14" name="Google Shape;293;p33"/>
            <p:cNvSpPr/>
            <p:nvPr/>
          </p:nvSpPr>
          <p:spPr>
            <a:xfrm>
              <a:off x="6747544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BUILD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4;p33"/>
            <p:cNvSpPr/>
            <p:nvPr/>
          </p:nvSpPr>
          <p:spPr>
            <a:xfrm>
              <a:off x="6523777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295;p33"/>
          <p:cNvGrpSpPr/>
          <p:nvPr/>
        </p:nvGrpSpPr>
        <p:grpSpPr>
          <a:xfrm>
            <a:off x="9007740" y="5620893"/>
            <a:ext cx="2297569" cy="401216"/>
            <a:chOff x="8470120" y="3791774"/>
            <a:chExt cx="2492474" cy="632298"/>
          </a:xfrm>
        </p:grpSpPr>
        <p:sp>
          <p:nvSpPr>
            <p:cNvPr id="17" name="Google Shape;296;p33"/>
            <p:cNvSpPr/>
            <p:nvPr/>
          </p:nvSpPr>
          <p:spPr>
            <a:xfrm>
              <a:off x="8743186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GO LIVE - NAZORG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97;p33"/>
            <p:cNvSpPr/>
            <p:nvPr/>
          </p:nvSpPr>
          <p:spPr>
            <a:xfrm>
              <a:off x="8470120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4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288;p33"/>
          <p:cNvSpPr/>
          <p:nvPr/>
        </p:nvSpPr>
        <p:spPr>
          <a:xfrm>
            <a:off x="1076573" y="5620893"/>
            <a:ext cx="507298" cy="401216"/>
          </a:xfrm>
          <a:prstGeom prst="flowChartDecision">
            <a:avLst/>
          </a:prstGeom>
          <a:solidFill>
            <a:srgbClr val="595959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0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hthoek 1"/>
          <p:cNvSpPr/>
          <p:nvPr/>
        </p:nvSpPr>
        <p:spPr>
          <a:xfrm>
            <a:off x="6570321" y="5530555"/>
            <a:ext cx="1394690" cy="581891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nl-BE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0" name="Google Shape;297;p33"/>
          <p:cNvSpPr/>
          <p:nvPr/>
        </p:nvSpPr>
        <p:spPr>
          <a:xfrm>
            <a:off x="11001666" y="5614914"/>
            <a:ext cx="507298" cy="401216"/>
          </a:xfrm>
          <a:prstGeom prst="flowChartDecision">
            <a:avLst/>
          </a:prstGeom>
          <a:solidFill>
            <a:srgbClr val="595959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5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560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700911" cy="471454"/>
          </a:xfrm>
        </p:spPr>
        <p:txBody>
          <a:bodyPr>
            <a:normAutofit/>
          </a:bodyPr>
          <a:lstStyle/>
          <a:p>
            <a:r>
              <a:rPr lang="nl-BE" sz="2400" b="1" dirty="0"/>
              <a:t>INHOUD – PLAN TO EXECUTE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idx="1"/>
          </p:nvPr>
        </p:nvSpPr>
        <p:spPr>
          <a:xfrm>
            <a:off x="838200" y="1643966"/>
            <a:ext cx="6525638" cy="4351338"/>
          </a:xfrm>
        </p:spPr>
        <p:txBody>
          <a:bodyPr>
            <a:normAutofit/>
          </a:bodyPr>
          <a:lstStyle/>
          <a:p>
            <a:r>
              <a:rPr lang="nl-BE" sz="2000" dirty="0"/>
              <a:t>Project </a:t>
            </a:r>
            <a:r>
              <a:rPr lang="nl-BE" sz="2000" dirty="0" err="1"/>
              <a:t>Description</a:t>
            </a:r>
            <a:r>
              <a:rPr lang="nl-BE" sz="2000" dirty="0"/>
              <a:t> – Strategic fit - General objective</a:t>
            </a:r>
          </a:p>
          <a:p>
            <a:r>
              <a:rPr lang="nl-BE" sz="2000" dirty="0" err="1"/>
              <a:t>Conclusion</a:t>
            </a:r>
            <a:r>
              <a:rPr lang="nl-BE" sz="2000" dirty="0"/>
              <a:t> of the Analysis</a:t>
            </a:r>
          </a:p>
          <a:p>
            <a:r>
              <a:rPr lang="nl-BE" sz="2000" dirty="0"/>
              <a:t>Expected benefits</a:t>
            </a:r>
          </a:p>
          <a:p>
            <a:r>
              <a:rPr lang="nl-BE" sz="2000" dirty="0"/>
              <a:t>Project resources</a:t>
            </a:r>
          </a:p>
          <a:p>
            <a:r>
              <a:rPr lang="nl-BE" sz="2000" dirty="0"/>
              <a:t>Planning </a:t>
            </a:r>
          </a:p>
          <a:p>
            <a:r>
              <a:rPr lang="nl-BE" sz="2000" dirty="0" err="1"/>
              <a:t>Organization</a:t>
            </a:r>
            <a:endParaRPr lang="nl-BE" sz="2000" dirty="0"/>
          </a:p>
          <a:p>
            <a:r>
              <a:rPr lang="nl-BE" sz="2000" dirty="0" err="1"/>
              <a:t>Risks</a:t>
            </a:r>
            <a:endParaRPr lang="nl-BE" sz="2000" dirty="0"/>
          </a:p>
          <a:p>
            <a:endParaRPr lang="nl-BE" sz="2000" dirty="0"/>
          </a:p>
          <a:p>
            <a:pPr marL="114300" indent="0">
              <a:buNone/>
            </a:pPr>
            <a:endParaRPr lang="nl-BE" sz="2000" dirty="0"/>
          </a:p>
          <a:p>
            <a:endParaRPr lang="nl-BE" sz="2000" dirty="0"/>
          </a:p>
          <a:p>
            <a:pPr marL="114300" indent="0">
              <a:buNone/>
            </a:pPr>
            <a:endParaRPr lang="nl-BE" sz="2000" dirty="0"/>
          </a:p>
          <a:p>
            <a:endParaRPr lang="nl-BE" sz="2000" dirty="0"/>
          </a:p>
          <a:p>
            <a:endParaRPr lang="nl-BE" sz="2000" dirty="0"/>
          </a:p>
        </p:txBody>
      </p:sp>
      <p:graphicFrame>
        <p:nvGraphicFramePr>
          <p:cNvPr id="6" name="Tabel 5"/>
          <p:cNvGraphicFramePr>
            <a:graphicFrameLocks noGrp="1"/>
          </p:cNvGraphicFramePr>
          <p:nvPr/>
        </p:nvGraphicFramePr>
        <p:xfrm>
          <a:off x="8026400" y="1254397"/>
          <a:ext cx="3888002" cy="459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910">
                  <a:extLst>
                    <a:ext uri="{9D8B030D-6E8A-4147-A177-3AD203B41FA5}">
                      <a16:colId xmlns:a16="http://schemas.microsoft.com/office/drawing/2014/main" val="2584268751"/>
                    </a:ext>
                  </a:extLst>
                </a:gridCol>
                <a:gridCol w="2209092">
                  <a:extLst>
                    <a:ext uri="{9D8B030D-6E8A-4147-A177-3AD203B41FA5}">
                      <a16:colId xmlns:a16="http://schemas.microsoft.com/office/drawing/2014/main" val="3251881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050" dirty="0"/>
                        <a:t>ANALYSE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80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Doel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Verwerven van gedetailleerde inzichten die</a:t>
                      </a:r>
                      <a:r>
                        <a:rPr lang="nl-BE" sz="1000" baseline="0" dirty="0"/>
                        <a:t> moeten leiden tot een gefundeerde, gedragen en efficiënte realisatie.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602680"/>
                  </a:ext>
                </a:extLst>
              </a:tr>
              <a:tr h="2578232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Key activiteiten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Doorstart</a:t>
                      </a:r>
                      <a:r>
                        <a:rPr lang="nl-BE" sz="1000" baseline="0" dirty="0"/>
                        <a:t> (aangepast) projectteam – kick off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Installatie </a:t>
                      </a:r>
                      <a:r>
                        <a:rPr lang="nl-BE" sz="1000" baseline="0" dirty="0" err="1"/>
                        <a:t>Steerco</a:t>
                      </a:r>
                      <a:endParaRPr lang="nl-BE" sz="1000" baseline="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Uitvoering</a:t>
                      </a:r>
                      <a:r>
                        <a:rPr lang="nl-BE" sz="1000" baseline="0" dirty="0"/>
                        <a:t> business en functionele analyse.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Architecturale check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Bepalen finale scope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Bepalen plan van uitvoering / methodiek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Bepalen concrete deliverables en timing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Verfijning projectbudget / vereiste middelen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Aanscherpen business case, </a:t>
                      </a:r>
                      <a:r>
                        <a:rPr lang="nl-BE" sz="1000" baseline="0" dirty="0" err="1"/>
                        <a:t>KPI’s</a:t>
                      </a:r>
                      <a:endParaRPr lang="nl-BE" sz="1000" baseline="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 err="1"/>
                        <a:t>Proof</a:t>
                      </a:r>
                      <a:r>
                        <a:rPr lang="nl-BE" sz="1000" baseline="0" dirty="0"/>
                        <a:t> of Concept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Monitor &amp; Control 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48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Key output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Goedgekeurd Project</a:t>
                      </a:r>
                      <a:r>
                        <a:rPr lang="nl-BE" sz="1000" baseline="0" dirty="0"/>
                        <a:t> Plan </a:t>
                      </a:r>
                      <a:r>
                        <a:rPr lang="nl-BE" sz="1000" baseline="0" dirty="0" err="1"/>
                        <a:t>to</a:t>
                      </a:r>
                      <a:r>
                        <a:rPr lang="nl-BE" sz="1000" baseline="0" dirty="0"/>
                        <a:t> </a:t>
                      </a:r>
                      <a:r>
                        <a:rPr lang="nl-BE" sz="1000" baseline="0" dirty="0" err="1"/>
                        <a:t>Execute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43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Goedkeurder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 err="1"/>
                        <a:t>Steerco</a:t>
                      </a:r>
                      <a:r>
                        <a:rPr lang="nl-BE" sz="1000" dirty="0"/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/>
                        <a:t>PMO </a:t>
                      </a:r>
                      <a:r>
                        <a:rPr lang="nl-BE" sz="1000" dirty="0"/>
                        <a:t>Board / CEO, indien deviatie &gt;</a:t>
                      </a:r>
                      <a:r>
                        <a:rPr lang="nl-BE" sz="1000" baseline="0" dirty="0"/>
                        <a:t> 10% </a:t>
                      </a:r>
                      <a:r>
                        <a:rPr lang="nl-BE" sz="1000" baseline="0" dirty="0" err="1"/>
                        <a:t>tov</a:t>
                      </a:r>
                      <a:r>
                        <a:rPr lang="nl-BE" sz="1000" baseline="0" dirty="0"/>
                        <a:t> </a:t>
                      </a:r>
                      <a:r>
                        <a:rPr lang="nl-BE" sz="1000" baseline="0" dirty="0" err="1"/>
                        <a:t>initial</a:t>
                      </a:r>
                      <a:r>
                        <a:rPr lang="nl-BE" sz="1000" baseline="0" dirty="0"/>
                        <a:t> </a:t>
                      </a:r>
                      <a:r>
                        <a:rPr lang="nl-BE" sz="1000" baseline="0" dirty="0" err="1"/>
                        <a:t>request</a:t>
                      </a:r>
                      <a:r>
                        <a:rPr lang="nl-BE" sz="1000" baseline="0" dirty="0"/>
                        <a:t> in PID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325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46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598053" y="179843"/>
            <a:ext cx="8700911" cy="80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PROJECT DESCRIPTION – STRATEGIC FIT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598053" y="1194420"/>
          <a:ext cx="10694425" cy="256478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30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</a:rPr>
                        <a:t>DESCRIPTION OF THE PROJECT (PURPOSE / CONTEXT)</a:t>
                      </a: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Beschrijf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welk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probleem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of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opportuniteit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opgelost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/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benut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kan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worden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.</a:t>
                      </a:r>
                      <a:endParaRPr lang="en-US" sz="1100" b="1" i="1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6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dirty="0"/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oogle Shape;123;p18"/>
          <p:cNvGraphicFramePr/>
          <p:nvPr/>
        </p:nvGraphicFramePr>
        <p:xfrm>
          <a:off x="598053" y="3759200"/>
          <a:ext cx="10694425" cy="25803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</a:rPr>
                        <a:t>STRATEGIC</a:t>
                      </a:r>
                      <a:r>
                        <a:rPr lang="nl-BE" sz="1200" b="1" baseline="0" dirty="0">
                          <a:solidFill>
                            <a:schemeClr val="lt1"/>
                          </a:solidFill>
                        </a:rPr>
                        <a:t> FIT</a:t>
                      </a: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1" u="none" strike="noStrike" kern="1200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Beschrijf</a:t>
                      </a:r>
                      <a:r>
                        <a:rPr lang="en-US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hoe het</a:t>
                      </a:r>
                      <a:r>
                        <a:rPr lang="en-US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kern="1200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projectvoorstel</a:t>
                      </a:r>
                      <a:r>
                        <a:rPr lang="en-US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past</a:t>
                      </a:r>
                      <a:r>
                        <a:rPr lang="en-US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kern="1200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binnen</a:t>
                      </a:r>
                      <a:r>
                        <a:rPr lang="en-US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de </a:t>
                      </a:r>
                      <a:r>
                        <a:rPr lang="en-US" sz="1200" b="0" i="1" u="none" strike="noStrike" kern="1200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strategie</a:t>
                      </a:r>
                      <a:r>
                        <a:rPr lang="en-US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van Roularta.</a:t>
                      </a:r>
                      <a:endParaRPr lang="en-US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12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199" y="276946"/>
            <a:ext cx="8700911" cy="49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GENERAL OBJECTIVE OF THE PROJECT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748787" y="1032635"/>
          <a:ext cx="10694425" cy="3047752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797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OBJECTIVE 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97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Formulering van de algemene projectdoelstelling, tracht dit op een SMART manier te doen. Een aantal componenten worden verder in de PID meer in detail uitgewerkt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S: </a:t>
                      </a:r>
                      <a:r>
                        <a:rPr lang="nl-BE" sz="1200" b="0" i="1" u="none" strike="noStrike" kern="1200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Specific</a:t>
                      </a: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(</a:t>
                      </a: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wat wil je precies bereiken) – scope kan in de sectie “scope of </a:t>
                      </a:r>
                      <a:r>
                        <a:rPr lang="nl-BE" sz="1200" b="0" i="1" u="none" strike="noStrike" kern="1200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the</a:t>
                      </a: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project toegelicht worden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M:Measurable (koppel cijfers aan je doelen, hetzij percentages of vaste cijfers) – meer detail kan in de sectie “expected benefits” toegelicht worden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A: Acceptable (streef naar acceptatie van de betrokkenen bij de gestelde doelen – mocht hier een issue zijn, beschrijf hoe dit aangepakt wordt)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R: Realistisch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T: Tijdsgebonden (wat is het tijdskader van het project – meer detail kan in de sectie “planning” toegelicht worden</a:t>
                      </a:r>
                      <a:endParaRPr lang="nl-BE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9199C2-6259-E4DB-34F1-C530235CEC8C}"/>
              </a:ext>
            </a:extLst>
          </p:cNvPr>
          <p:cNvGraphicFramePr>
            <a:graphicFrameLocks noGrp="1"/>
          </p:cNvGraphicFramePr>
          <p:nvPr/>
        </p:nvGraphicFramePr>
        <p:xfrm>
          <a:off x="832340" y="4332352"/>
          <a:ext cx="10700285" cy="224870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0700285">
                  <a:extLst>
                    <a:ext uri="{9D8B030D-6E8A-4147-A177-3AD203B41FA5}">
                      <a16:colId xmlns:a16="http://schemas.microsoft.com/office/drawing/2014/main" val="2857413920"/>
                    </a:ext>
                  </a:extLst>
                </a:gridCol>
              </a:tblGrid>
              <a:tr h="555956">
                <a:tc>
                  <a:txBody>
                    <a:bodyPr/>
                    <a:lstStyle/>
                    <a:p>
                      <a:r>
                        <a:rPr lang="nl-BE" sz="1200" b="1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SCOPE OF THE PROJECT</a:t>
                      </a:r>
                      <a:endParaRPr lang="en-BE" sz="1200" b="1" i="0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953454"/>
                  </a:ext>
                </a:extLst>
              </a:tr>
              <a:tr h="877011">
                <a:tc>
                  <a:txBody>
                    <a:bodyPr/>
                    <a:lstStyle/>
                    <a:p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In scope: Geef de reikwijdte van je project aan.</a:t>
                      </a:r>
                      <a:endParaRPr lang="en-BE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353155"/>
                  </a:ext>
                </a:extLst>
              </a:tr>
              <a:tr h="815735">
                <a:tc>
                  <a:txBody>
                    <a:bodyPr/>
                    <a:lstStyle/>
                    <a:p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Out of scope : sluit binnen de gedefinieerde scope verwarring of assumpties uit door zaken die niet opgenomen zijn expliciet te benoemen.</a:t>
                      </a:r>
                      <a:endParaRPr lang="en-BE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0855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700911" cy="39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OVERALL CONCLUSION OF THE ANALYSIS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838200" y="1416092"/>
          <a:ext cx="10694425" cy="4109033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30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CONCLUSION</a:t>
                      </a:r>
                      <a:r>
                        <a:rPr lang="nl-BE" sz="1200" b="1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THE ANALYSIS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00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i="1" dirty="0"/>
                        <a:t>Tijdens</a:t>
                      </a:r>
                      <a:r>
                        <a:rPr lang="nl-BE" sz="1200" i="1" baseline="0" dirty="0"/>
                        <a:t> de analysefase werden verschillende aspecten van het project grondig onderzocht ten einde tot de beslissing tot uitvoering van het project te komen.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i="1" baseline="0" dirty="0"/>
                        <a:t>Beschrijf:</a:t>
                      </a:r>
                      <a:br>
                        <a:rPr lang="nl-BE" sz="1200" i="1" baseline="0" dirty="0"/>
                      </a:br>
                      <a:endParaRPr lang="nl-BE" sz="1200" i="1" baseline="0" dirty="0"/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l-BE" sz="1200" i="1" baseline="0" dirty="0"/>
                        <a:t>de essentie van de uitgevoerde analyses (analyse documenten zelf als bijlage), 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l-BE" sz="1200" i="1" baseline="0" dirty="0"/>
                        <a:t>welke bijkomende zekerheden en inzichten verworven zijn en hoe ze mee zullen bijdragen tot het succes van het projectresultaat.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l-BE" sz="1200" i="1" baseline="0" dirty="0"/>
                        <a:t>de architecturale impact (</a:t>
                      </a:r>
                      <a:r>
                        <a:rPr lang="nl-BE" sz="1200" i="1" baseline="0" dirty="0" err="1"/>
                        <a:t>ism</a:t>
                      </a:r>
                      <a:r>
                        <a:rPr lang="nl-BE" sz="1200" i="1" baseline="0" dirty="0"/>
                        <a:t> Enterprise Architecture)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l-BE" sz="1200" i="1" baseline="0" dirty="0"/>
                        <a:t>de resterende onzekerheden, en hoe hiermee omgegaan zal worden tijdens de </a:t>
                      </a:r>
                      <a:r>
                        <a:rPr lang="nl-BE" sz="1200" i="1" baseline="0" dirty="0" err="1"/>
                        <a:t>Build</a:t>
                      </a:r>
                      <a:r>
                        <a:rPr lang="nl-BE" sz="1200" i="1" baseline="0" dirty="0"/>
                        <a:t> fase</a:t>
                      </a: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75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8700911" cy="39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EXPECTED BENEFITS OF THE PROJECT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838199" y="1094546"/>
          <a:ext cx="10694425" cy="1485928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7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 / FINANCIAL BENEFITS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5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Controlling kan assisteren / zal valideren.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Beschrijf </a:t>
                      </a: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l-BE" sz="1200" b="0" i="1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de verwachte kwantitatieve en financiële opbrengsten na de realisatie van het project, rekening houdende met de projectkost – de recurring kost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cap="none" baseline="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Maw</a:t>
                      </a:r>
                      <a:r>
                        <a:rPr lang="nl-BE" sz="1200" b="0" i="1" u="none" strike="noStrike" cap="none" baseline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 wat is de totale kost/investering vs. benefit (omzet stijging of kostdaling/reorganisatie). Formuleer </a:t>
                      </a:r>
                      <a:r>
                        <a:rPr lang="nl-BE" sz="1200" i="1" baseline="0" dirty="0"/>
                        <a:t>als KPI</a:t>
                      </a:r>
                      <a:endParaRPr lang="nl-BE" sz="1200" i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oogle Shape;123;p18"/>
          <p:cNvGraphicFramePr/>
          <p:nvPr/>
        </p:nvGraphicFramePr>
        <p:xfrm>
          <a:off x="838199" y="2909999"/>
          <a:ext cx="10694425" cy="1488829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1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EXPECTED RECURRING</a:t>
                      </a:r>
                      <a:r>
                        <a:rPr lang="nl-BE" sz="1200" b="1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COST AFTER GO LIVE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4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nl-BE" sz="1200" i="1" baseline="0" dirty="0"/>
                        <a:t>Beschrijving van de eventuele nieuwe </a:t>
                      </a:r>
                      <a:r>
                        <a:rPr lang="nl-BE" sz="1200" i="1" baseline="0" dirty="0" err="1"/>
                        <a:t>recurring</a:t>
                      </a:r>
                      <a:r>
                        <a:rPr lang="nl-BE" sz="1200" i="1" baseline="0" dirty="0"/>
                        <a:t> / operationele kosten, alsook de vereiste maintenance of aandacht binnen de organisatie.</a:t>
                      </a:r>
                      <a:endParaRPr lang="nl-BE" sz="1200" i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BE" sz="1200" i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oogle Shape;123;p18"/>
          <p:cNvGraphicFramePr/>
          <p:nvPr/>
        </p:nvGraphicFramePr>
        <p:xfrm>
          <a:off x="838199" y="4822839"/>
          <a:ext cx="10694425" cy="1618203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4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QUALITATIVE BENEFITS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i="1" dirty="0"/>
                        <a:t>(</a:t>
                      </a:r>
                      <a:r>
                        <a:rPr lang="nl-BE" sz="1200" i="1" baseline="0" dirty="0"/>
                        <a:t>)</a:t>
                      </a:r>
                      <a:endParaRPr lang="nl-BE" sz="1200" i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039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198" y="245052"/>
            <a:ext cx="8700911" cy="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PROJECT RESOURCES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838197" y="1129883"/>
          <a:ext cx="11097255" cy="3680132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02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170">
                  <a:extLst>
                    <a:ext uri="{9D8B030D-6E8A-4147-A177-3AD203B41FA5}">
                      <a16:colId xmlns:a16="http://schemas.microsoft.com/office/drawing/2014/main" val="565634779"/>
                    </a:ext>
                  </a:extLst>
                </a:gridCol>
                <a:gridCol w="2008822">
                  <a:extLst>
                    <a:ext uri="{9D8B030D-6E8A-4147-A177-3AD203B41FA5}">
                      <a16:colId xmlns:a16="http://schemas.microsoft.com/office/drawing/2014/main" val="46461514"/>
                    </a:ext>
                  </a:extLst>
                </a:gridCol>
                <a:gridCol w="945177">
                  <a:extLst>
                    <a:ext uri="{9D8B030D-6E8A-4147-A177-3AD203B41FA5}">
                      <a16:colId xmlns:a16="http://schemas.microsoft.com/office/drawing/2014/main" val="78809652"/>
                    </a:ext>
                  </a:extLst>
                </a:gridCol>
                <a:gridCol w="974530">
                  <a:extLst>
                    <a:ext uri="{9D8B030D-6E8A-4147-A177-3AD203B41FA5}">
                      <a16:colId xmlns:a16="http://schemas.microsoft.com/office/drawing/2014/main" val="450931752"/>
                    </a:ext>
                  </a:extLst>
                </a:gridCol>
                <a:gridCol w="5104697">
                  <a:extLst>
                    <a:ext uri="{9D8B030D-6E8A-4147-A177-3AD203B41FA5}">
                      <a16:colId xmlns:a16="http://schemas.microsoft.com/office/drawing/2014/main" val="2496193189"/>
                    </a:ext>
                  </a:extLst>
                </a:gridCol>
              </a:tblGrid>
              <a:tr h="241651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RESOURCES – </a:t>
                      </a:r>
                      <a:r>
                        <a:rPr lang="en-BE" sz="1200" b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</a:t>
                      </a:r>
                      <a:r>
                        <a:rPr lang="nl-BE" sz="1200" b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PHASE</a:t>
                      </a:r>
                      <a:endParaRPr sz="1200" b="1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050" b="1"/>
                        <a:t>MD </a:t>
                      </a:r>
                      <a:endParaRPr sz="1050" b="1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BE" sz="1050" b="1"/>
                        <a:t>K</a:t>
                      </a:r>
                      <a:r>
                        <a:rPr lang="nl-BE" sz="1050" b="1"/>
                        <a:t>€ </a:t>
                      </a:r>
                      <a:endParaRPr sz="1050" b="1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050" b="1"/>
                        <a:t>Info</a:t>
                      </a:r>
                      <a:endParaRPr sz="1050" b="1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138742"/>
                  </a:ext>
                </a:extLst>
              </a:tr>
              <a:tr h="234995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050" b="1" dirty="0"/>
                        <a:t>Interne MD</a:t>
                      </a: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000" dirty="0"/>
                        <a:t>Billable MD </a:t>
                      </a: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000"/>
                        <a:t>IT</a:t>
                      </a: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0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0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191504"/>
                  </a:ext>
                </a:extLst>
              </a:tr>
              <a:tr h="226142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000"/>
                        <a:t>Cycles</a:t>
                      </a: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17737"/>
                  </a:ext>
                </a:extLst>
              </a:tr>
              <a:tr h="233506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000"/>
                        <a:t>PMO</a:t>
                      </a: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b="1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81146"/>
                  </a:ext>
                </a:extLst>
              </a:tr>
              <a:tr h="210291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BE" sz="1000" dirty="0"/>
                        <a:t>Non-Billable MD</a:t>
                      </a:r>
                      <a:endParaRPr lang="nl-BE" sz="1000" dirty="0"/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000" dirty="0"/>
                        <a:t>Other RMG</a:t>
                      </a:r>
                      <a:br>
                        <a:rPr sz="1000" dirty="0"/>
                      </a:br>
                      <a:endParaRPr sz="10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BE" sz="1000" dirty="0"/>
                        <a:t>IT EA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BE" sz="1000" dirty="0"/>
                        <a:t>IT Infra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BE" sz="1000" dirty="0"/>
                        <a:t>...</a:t>
                      </a:r>
                      <a:br>
                        <a:rPr lang="en-BE" sz="1000" dirty="0"/>
                      </a:br>
                      <a:endParaRPr lang="nl-BE" sz="10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0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BE" sz="7200" b="0" dirty="0"/>
                        <a:t>x</a:t>
                      </a:r>
                      <a:endParaRPr lang="nl-NL" sz="7200" b="0" dirty="0"/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BE" sz="10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957341"/>
                  </a:ext>
                </a:extLst>
              </a:tr>
              <a:tr h="306731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050" b="1" dirty="0" err="1"/>
                        <a:t>Totaal</a:t>
                      </a:r>
                      <a:r>
                        <a:rPr sz="1050" b="1" dirty="0"/>
                        <a:t> INTERN RMG</a:t>
                      </a: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577665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20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2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2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806941"/>
                  </a:ext>
                </a:extLst>
              </a:tr>
              <a:tr h="348725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BE" sz="1050" b="1" dirty="0" err="1"/>
                        <a:t>Totaal</a:t>
                      </a:r>
                      <a:r>
                        <a:rPr lang="en-BE" sz="1050" b="1" dirty="0"/>
                        <a:t> </a:t>
                      </a:r>
                      <a:r>
                        <a:rPr lang="nl-BE" sz="1050" b="1" dirty="0"/>
                        <a:t>Externe Resources</a:t>
                      </a:r>
                      <a:endParaRPr sz="105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i="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71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0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783294"/>
                  </a:ext>
                </a:extLst>
              </a:tr>
              <a:tr h="339816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050" b="1" dirty="0" err="1"/>
                        <a:t>Totaal</a:t>
                      </a:r>
                      <a:r>
                        <a:rPr sz="1050" b="1" dirty="0"/>
                        <a:t> BUILD</a:t>
                      </a: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050" b="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050" b="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472403"/>
                  </a:ext>
                </a:extLst>
              </a:tr>
            </a:tbl>
          </a:graphicData>
        </a:graphic>
      </p:graphicFrame>
      <p:sp>
        <p:nvSpPr>
          <p:cNvPr id="2" name="Tekstvak 1">
            <a:extLst>
              <a:ext uri="{FF2B5EF4-FFF2-40B4-BE49-F238E27FC236}">
                <a16:creationId xmlns:a16="http://schemas.microsoft.com/office/drawing/2014/main" id="{DC109B62-E70E-66B9-3CAB-211D64B8E7C1}"/>
              </a:ext>
            </a:extLst>
          </p:cNvPr>
          <p:cNvSpPr txBox="1"/>
          <p:nvPr/>
        </p:nvSpPr>
        <p:spPr>
          <a:xfrm>
            <a:off x="838197" y="5896740"/>
            <a:ext cx="11097255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BE" sz="10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Calibri"/>
                <a:cs typeface="Calibri"/>
                <a:sym typeface="Arial"/>
              </a:rPr>
              <a:t>Toelichting bij Project Resources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Calibri"/>
                <a:cs typeface="Calibri"/>
                <a:sym typeface="Arial"/>
              </a:rPr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Prijs interne MD (202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6)</a:t>
            </a:r>
            <a:r>
              <a:rPr kumimoji="0" lang="nl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: 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910</a:t>
            </a:r>
            <a:r>
              <a:rPr kumimoji="0" lang="nl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€ / MD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voor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profielen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binnen IT DEV, Cycles en PMO (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zgn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.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medewerkers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die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aan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nl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T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ijdsregistratie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binnen JIRA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doen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)</a:t>
            </a:r>
            <a:endParaRPr kumimoji="0" lang="nl-B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Calibri"/>
              <a:cs typeface="Calibri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De effort van de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overige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interne project</a:t>
            </a:r>
            <a:r>
              <a:rPr kumimoji="0" lang="nl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resources dien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en </a:t>
            </a:r>
            <a:r>
              <a:rPr kumimoji="0" lang="nl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ook in kaart gebracht worden 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maar worden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financieel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niet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doorbelast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naar het project,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te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vermelden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onder</a:t>
            </a:r>
            <a:r>
              <a:rPr kumimoji="0" lang="en-B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“other RMG”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Opgelet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: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elke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gevraagde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interne resource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dient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vooraf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door de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betrokkene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én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zijn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leidinggevende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gecommitteerd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te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worden, in het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bijzonder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tbv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de </a:t>
            </a:r>
            <a:r>
              <a:rPr kumimoji="0" lang="en-BE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opbouw</a:t>
            </a:r>
            <a:r>
              <a:rPr kumimoji="0" lang="en-B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van de planning.</a:t>
            </a:r>
            <a:endParaRPr kumimoji="0" lang="nl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00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838200" y="345671"/>
            <a:ext cx="8700911" cy="41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HIGH LEVEL PLANNING: DELIVERABLES &amp; MILESTONES BUILD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35" name="Google Shape;135;p20"/>
          <p:cNvGraphicFramePr/>
          <p:nvPr/>
        </p:nvGraphicFramePr>
        <p:xfrm>
          <a:off x="838200" y="1428793"/>
          <a:ext cx="10693400" cy="2966800"/>
        </p:xfrm>
        <a:graphic>
          <a:graphicData uri="http://schemas.openxmlformats.org/drawingml/2006/table">
            <a:tbl>
              <a:tblPr firstRow="1" bandRow="1">
                <a:noFill/>
                <a:tableStyleId>{46466540-DBD0-4E14-94ED-1DB77FA02914}</a:tableStyleId>
              </a:tblPr>
              <a:tblGrid>
                <a:gridCol w="553720">
                  <a:extLst>
                    <a:ext uri="{9D8B030D-6E8A-4147-A177-3AD203B41FA5}">
                      <a16:colId xmlns:a16="http://schemas.microsoft.com/office/drawing/2014/main" val="3284466062"/>
                    </a:ext>
                  </a:extLst>
                </a:gridCol>
                <a:gridCol w="703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MILESTONE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DATE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 DATE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81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614463" y="335942"/>
            <a:ext cx="8700911" cy="38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ORGANIZATION – PHASE BUILD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Google Shape;147;p22"/>
          <p:cNvGraphicFramePr/>
          <p:nvPr/>
        </p:nvGraphicFramePr>
        <p:xfrm>
          <a:off x="706120" y="1276393"/>
          <a:ext cx="11170920" cy="3764390"/>
        </p:xfrm>
        <a:graphic>
          <a:graphicData uri="http://schemas.openxmlformats.org/drawingml/2006/table">
            <a:tbl>
              <a:tblPr firstRow="1" bandRow="1">
                <a:noFill/>
                <a:tableStyleId>{46466540-DBD0-4E14-94ED-1DB77FA02914}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ROLE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NAMES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PROJECT SPONSOR</a:t>
                      </a: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nl-BE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PRODUCT MANAGER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89406129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nl-BE" sz="1200" b="0" i="0" u="none" strike="noStrike" kern="1200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</a:rPr>
                        <a:t>PRODUCT OWNER</a:t>
                      </a:r>
                      <a:endParaRPr sz="1200" b="0" i="0" u="none" strike="noStrike" kern="1200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45354204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nl-BE" sz="1200" dirty="0"/>
                        <a:t>PROJECT</a:t>
                      </a:r>
                      <a:r>
                        <a:rPr lang="nl-BE" sz="1200" baseline="0" dirty="0"/>
                        <a:t> MANAGER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2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8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74921273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nl-BE" sz="1200" dirty="0"/>
                        <a:t>STEERCO 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8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4857443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PROJECT</a:t>
                      </a:r>
                      <a:r>
                        <a:rPr lang="nl-BE" sz="1200" baseline="0" dirty="0"/>
                        <a:t> TEAM </a:t>
                      </a: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42697351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STAKEHOLDER</a:t>
                      </a:r>
                      <a:r>
                        <a:rPr lang="nl-BE" sz="1200" baseline="0" dirty="0"/>
                        <a:t> GROUP</a:t>
                      </a: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357683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358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700911" cy="44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MAIN RISKS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69" name="Google Shape;169;p24"/>
          <p:cNvGraphicFramePr/>
          <p:nvPr/>
        </p:nvGraphicFramePr>
        <p:xfrm>
          <a:off x="838200" y="1471635"/>
          <a:ext cx="10694425" cy="1752640"/>
        </p:xfrm>
        <a:graphic>
          <a:graphicData uri="http://schemas.openxmlformats.org/drawingml/2006/table">
            <a:tbl>
              <a:tblPr firstRow="1" bandRow="1">
                <a:noFill/>
                <a:tableStyleId>{46466540-DBD0-4E14-94ED-1DB77FA02914}</a:tableStyleId>
              </a:tblPr>
              <a:tblGrid>
                <a:gridCol w="487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6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MAIN RISK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PROBABILITY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IMPACT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RECOMMENDATION /</a:t>
                      </a:r>
                      <a:r>
                        <a:rPr lang="nl-BE" sz="1200" baseline="0" dirty="0"/>
                        <a:t> MITIGATION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i="1" dirty="0"/>
                        <a:t>High</a:t>
                      </a:r>
                      <a:r>
                        <a:rPr lang="nl-BE" sz="1200" i="1" baseline="0" dirty="0"/>
                        <a:t> / Medium / Low</a:t>
                      </a:r>
                      <a:endParaRPr sz="1200" i="1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nl-BE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High / Medium / Low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77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700911" cy="55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VALIDATION CONCLUSIONS / APPROVAL NEXT PHASE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838200" y="1622419"/>
          <a:ext cx="2449945" cy="1645739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454">
                  <a:extLst>
                    <a:ext uri="{9D8B030D-6E8A-4147-A177-3AD203B41FA5}">
                      <a16:colId xmlns:a16="http://schemas.microsoft.com/office/drawing/2014/main" val="3259453271"/>
                    </a:ext>
                  </a:extLst>
                </a:gridCol>
              </a:tblGrid>
              <a:tr h="41005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nl-BE" sz="1200" b="1" i="0" u="none" strike="noStrike" cap="none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Approval</a:t>
                      </a:r>
                      <a:endParaRPr sz="1200" b="1" i="0" u="none" strike="noStrike" cap="none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Check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box</a:t>
                      </a:r>
                      <a:endParaRPr sz="1200" b="1" i="0" u="none" strike="noStrike" cap="none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BE" sz="1050" i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050" dirty="0"/>
                        <a:t>PMO</a:t>
                      </a:r>
                      <a:r>
                        <a:rPr lang="nl-BE" sz="1050" baseline="0" dirty="0"/>
                        <a:t> </a:t>
                      </a:r>
                      <a:r>
                        <a:rPr lang="nl-BE" sz="1050" dirty="0"/>
                        <a:t>BOARD</a:t>
                      </a:r>
                      <a:r>
                        <a:rPr lang="nl-BE" sz="1050" baseline="0" dirty="0"/>
                        <a:t> / </a:t>
                      </a:r>
                      <a:r>
                        <a:rPr lang="nl-BE" sz="1050" dirty="0"/>
                        <a:t>CEO</a:t>
                      </a: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8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050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32886"/>
                  </a:ext>
                </a:extLst>
              </a:tr>
              <a:tr h="3758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050" dirty="0"/>
                        <a:t>PROJECT OWNER</a:t>
                      </a:r>
                      <a:endParaRPr sz="105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05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77937"/>
                  </a:ext>
                </a:extLst>
              </a:tr>
            </a:tbl>
          </a:graphicData>
        </a:graphic>
      </p:graphicFrame>
      <p:sp>
        <p:nvSpPr>
          <p:cNvPr id="2" name="Rechthoek 1"/>
          <p:cNvSpPr/>
          <p:nvPr/>
        </p:nvSpPr>
        <p:spPr>
          <a:xfrm>
            <a:off x="3546763" y="2079593"/>
            <a:ext cx="8146473" cy="3786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nl-BE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5" name="Rechthoek 4"/>
          <p:cNvSpPr/>
          <p:nvPr/>
        </p:nvSpPr>
        <p:spPr>
          <a:xfrm>
            <a:off x="3546763" y="2903297"/>
            <a:ext cx="8146473" cy="3786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nl-BE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6" name="Rechthoek 5"/>
          <p:cNvSpPr/>
          <p:nvPr/>
        </p:nvSpPr>
        <p:spPr>
          <a:xfrm>
            <a:off x="838200" y="4299478"/>
            <a:ext cx="10855036" cy="12885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Remarks:</a:t>
            </a:r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122" y="1234571"/>
            <a:ext cx="335088" cy="352383"/>
          </a:xfrm>
          <a:prstGeom prst="rect">
            <a:avLst/>
          </a:prstGeom>
        </p:spPr>
      </p:pic>
      <p:pic>
        <p:nvPicPr>
          <p:cNvPr id="4" name="Afbeelding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251" y="1234571"/>
            <a:ext cx="306704" cy="3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46584"/>
      </p:ext>
    </p:extLst>
  </p:cSld>
  <p:clrMapOvr>
    <a:masterClrMapping/>
  </p:clrMapOvr>
</p:sld>
</file>

<file path=ppt/theme/theme1.xml><?xml version="1.0" encoding="utf-8"?>
<a:theme xmlns:a="http://schemas.openxmlformats.org/drawingml/2006/main" name="2_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elichting xmlns="37d6ac44-9212-4376-af1b-3a59e959c005" xsi:nil="true"/>
    <Tonenin xmlns="37d6ac44-9212-4376-af1b-3a59e959c00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842044B8B7084EA4187CF37BA6A7D9" ma:contentTypeVersion="12" ma:contentTypeDescription="Een nieuw document maken." ma:contentTypeScope="" ma:versionID="556a6f47daf0b9dda5660849dd9722aa">
  <xsd:schema xmlns:xsd="http://www.w3.org/2001/XMLSchema" xmlns:xs="http://www.w3.org/2001/XMLSchema" xmlns:p="http://schemas.microsoft.com/office/2006/metadata/properties" xmlns:ns2="37d6ac44-9212-4376-af1b-3a59e959c005" xmlns:ns3="4c375c2a-581d-47b8-9c20-98927d1bb37d" targetNamespace="http://schemas.microsoft.com/office/2006/metadata/properties" ma:root="true" ma:fieldsID="847165117bc7be340de87f94620427c8" ns2:_="" ns3:_="">
    <xsd:import namespace="37d6ac44-9212-4376-af1b-3a59e959c005"/>
    <xsd:import namespace="4c375c2a-581d-47b8-9c20-98927d1bb37d"/>
    <xsd:element name="properties">
      <xsd:complexType>
        <xsd:sequence>
          <xsd:element name="documentManagement">
            <xsd:complexType>
              <xsd:all>
                <xsd:element ref="ns2:Toelichting" minOccurs="0"/>
                <xsd:element ref="ns2:Tonenin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d6ac44-9212-4376-af1b-3a59e959c005" elementFormDefault="qualified">
    <xsd:import namespace="http://schemas.microsoft.com/office/2006/documentManagement/types"/>
    <xsd:import namespace="http://schemas.microsoft.com/office/infopath/2007/PartnerControls"/>
    <xsd:element name="Toelichting" ma:index="8" nillable="true" ma:displayName="Toelichting" ma:format="Dropdown" ma:internalName="Toelichting">
      <xsd:simpleType>
        <xsd:restriction base="dms:Note">
          <xsd:maxLength value="255"/>
        </xsd:restriction>
      </xsd:simpleType>
    </xsd:element>
    <xsd:element name="Tonenin" ma:index="9" nillable="true" ma:displayName="Tonen in" ma:description="Waar moet deze map getoond worden" ma:format="Dropdown" ma:internalName="Tonenin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75c2a-581d-47b8-9c20-98927d1bb37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0152F9-34F4-4859-8358-FB86EA9249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3C8E32-8306-49CC-890D-C72CB27364F0}">
  <ds:schemaRefs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4c375c2a-581d-47b8-9c20-98927d1bb37d"/>
    <ds:schemaRef ds:uri="37d6ac44-9212-4376-af1b-3a59e959c005"/>
  </ds:schemaRefs>
</ds:datastoreItem>
</file>

<file path=customXml/itemProps3.xml><?xml version="1.0" encoding="utf-8"?>
<ds:datastoreItem xmlns:ds="http://schemas.openxmlformats.org/officeDocument/2006/customXml" ds:itemID="{97C37BAC-EF0C-4908-8CB4-5D51672817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d6ac44-9212-4376-af1b-3a59e959c005"/>
    <ds:schemaRef ds:uri="4c375c2a-581d-47b8-9c20-98927d1bb3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Microsoft Office PowerPoint</Application>
  <PresentationFormat>Breedbeeld</PresentationFormat>
  <Paragraphs>133</Paragraphs>
  <Slides>11</Slides>
  <Notes>10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2" baseType="lpstr">
      <vt:lpstr>2_Kantoorthema</vt:lpstr>
      <vt:lpstr>PMO Board dd/mm/yy PROJECT PLAN TO EXECUTE</vt:lpstr>
      <vt:lpstr>INHOUD – PLAN TO EXECUTE</vt:lpstr>
      <vt:lpstr>PROJECT DESCRIPTION – STRATEGIC FIT</vt:lpstr>
      <vt:lpstr>GENERAL OBJECTIVE OF THE PROJECT</vt:lpstr>
      <vt:lpstr>OVERALL CONCLUSION OF THE ANALYSIS</vt:lpstr>
      <vt:lpstr>EXPECTED BENEFITS OF THE PROJECT</vt:lpstr>
      <vt:lpstr>PROJECT RESOURCES</vt:lpstr>
      <vt:lpstr>HIGH LEVEL PLANNING: DELIVERABLES &amp; MILESTONES BUILD</vt:lpstr>
      <vt:lpstr>ORGANIZATION – PHASE BUILD</vt:lpstr>
      <vt:lpstr>MAIN RISKS</vt:lpstr>
      <vt:lpstr>VALIDATION CONCLUSIONS / APPROVAL NEXT PHASE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 – PROJECT CHARTER</dc:title>
  <dc:creator>Bart Kerckx</dc:creator>
  <cp:lastModifiedBy>Bart Kerckx</cp:lastModifiedBy>
  <cp:revision>70</cp:revision>
  <dcterms:modified xsi:type="dcterms:W3CDTF">2026-08-28T14:28:26Z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0x01010025842044B8B7084EA4187CF37BA6A7D9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bool>false</vt:bool>
  </property>
  <property fmtid="{D5CDD505-2E9C-101B-9397-08002B2CF9AE}" pid="9" name="MSIP_Label_d70c5331-32c3-44e8-93df-4eee0e376e6f_Enabled">
    <vt:lpwstr>true</vt:lpwstr>
  </property>
  <property fmtid="{D5CDD505-2E9C-101B-9397-08002B2CF9AE}" pid="10" name="MSIP_Label_d70c5331-32c3-44e8-93df-4eee0e376e6f_SetDate">
    <vt:lpwstr>2025-06-18T11:39:43Z</vt:lpwstr>
  </property>
  <property fmtid="{D5CDD505-2E9C-101B-9397-08002B2CF9AE}" pid="11" name="MSIP_Label_d70c5331-32c3-44e8-93df-4eee0e376e6f_Method">
    <vt:lpwstr>Privileged</vt:lpwstr>
  </property>
  <property fmtid="{D5CDD505-2E9C-101B-9397-08002B2CF9AE}" pid="12" name="MSIP_Label_d70c5331-32c3-44e8-93df-4eee0e376e6f_Name">
    <vt:lpwstr>Public</vt:lpwstr>
  </property>
  <property fmtid="{D5CDD505-2E9C-101B-9397-08002B2CF9AE}" pid="13" name="MSIP_Label_d70c5331-32c3-44e8-93df-4eee0e376e6f_SiteId">
    <vt:lpwstr>3a5d6220-ba2e-4fd9-a8e3-ac0115fe397a</vt:lpwstr>
  </property>
  <property fmtid="{D5CDD505-2E9C-101B-9397-08002B2CF9AE}" pid="14" name="MSIP_Label_d70c5331-32c3-44e8-93df-4eee0e376e6f_ActionId">
    <vt:lpwstr>4c1a8a95-8238-4332-9da9-5f29c8e95729</vt:lpwstr>
  </property>
  <property fmtid="{D5CDD505-2E9C-101B-9397-08002B2CF9AE}" pid="15" name="MSIP_Label_d70c5331-32c3-44e8-93df-4eee0e376e6f_ContentBits">
    <vt:lpwstr>0</vt:lpwstr>
  </property>
  <property fmtid="{D5CDD505-2E9C-101B-9397-08002B2CF9AE}" pid="16" name="MSIP_Label_d70c5331-32c3-44e8-93df-4eee0e376e6f_Tag">
    <vt:lpwstr>10, 0, 1, 1</vt:lpwstr>
  </property>
</Properties>
</file>
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4"/>
  </p:sldMasterIdLst>
  <p:notesMasterIdLst>
    <p:notesMasterId r:id="rId10"/>
  </p:notesMasterIdLst>
  <p:sldIdLst>
    <p:sldId id="256" r:id="rId5"/>
    <p:sldId id="272" r:id="rId6"/>
    <p:sldId id="274" r:id="rId7"/>
    <p:sldId id="275" r:id="rId8"/>
    <p:sldId id="276" r:id="rId9"/>
  </p:sldIdLst>
  <p:sldSz cx="12192000" cy="68580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06F09C-41D9-C74B-3E40-F322498FFCF3}" v="140" dt="2025-12-10T08:57:28.369"/>
  </p1510:revLst>
</p1510:revInfo>
</file>

<file path=ppt/tableStyles.xml><?xml version="1.0" encoding="utf-8"?>
<a:tblStyleLst xmlns:a="http://schemas.openxmlformats.org/drawingml/2006/main" def="{71E4AE52-08E6-454C-BC5B-38916D7E3711}">
  <a:tblStyle styleId="{71E4AE52-08E6-454C-BC5B-38916D7E371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8" autoAdjust="0"/>
    <p:restoredTop sz="94660"/>
  </p:normalViewPr>
  <p:slideViewPr>
    <p:cSldViewPr snapToGrid="0">
      <p:cViewPr varScale="1">
        <p:scale>
          <a:sx n="78" d="100"/>
          <a:sy n="78" d="100"/>
        </p:scale>
        <p:origin x="84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3" y="0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77538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9461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6808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‹nr.›</a:t>
            </a:fld>
            <a:endParaRPr lang="nl-BE"/>
          </a:p>
        </p:txBody>
      </p:sp>
      <p:pic>
        <p:nvPicPr>
          <p:cNvPr id="7" name="Afbeelding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96475" y="127353"/>
            <a:ext cx="2152650" cy="73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618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700911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‹nr.›</a:t>
            </a:fld>
            <a:endParaRPr lang="nl-BE"/>
          </a:p>
        </p:txBody>
      </p:sp>
      <p:pic>
        <p:nvPicPr>
          <p:cNvPr id="7" name="Afbeelding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8022" y="113859"/>
            <a:ext cx="2152650" cy="73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448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59419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93662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7493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9024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19945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86177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8859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16192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25174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04AF3B-3090-4698-9A35-C72A68FCE01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7843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>
            <a:spLocks noGrp="1"/>
          </p:cNvSpPr>
          <p:nvPr>
            <p:ph type="title"/>
          </p:nvPr>
        </p:nvSpPr>
        <p:spPr>
          <a:xfrm>
            <a:off x="175491" y="1854745"/>
            <a:ext cx="1190515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nl-BE" b="1" dirty="0"/>
              <a:t>PMO - PROJECT CLOSING</a:t>
            </a:r>
            <a:endParaRPr b="1" dirty="0"/>
          </a:p>
        </p:txBody>
      </p:sp>
      <p:sp>
        <p:nvSpPr>
          <p:cNvPr id="5" name="Google Shape;97;p14"/>
          <p:cNvSpPr txBox="1"/>
          <p:nvPr/>
        </p:nvSpPr>
        <p:spPr>
          <a:xfrm>
            <a:off x="1417432" y="4567144"/>
            <a:ext cx="9144000" cy="529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nl-BE" sz="3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PRJ00xxx.NAME OF PROJECT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endParaRPr lang="nl-BE"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nl-BE" sz="3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nl-BE" sz="36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nl-BE" sz="3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/mm/</a:t>
            </a:r>
            <a:r>
              <a:rPr lang="nl-BE" sz="36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yyyy</a:t>
            </a:r>
            <a:endParaRPr lang="nl-BE"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97;p14"/>
          <p:cNvSpPr txBox="1"/>
          <p:nvPr/>
        </p:nvSpPr>
        <p:spPr>
          <a:xfrm>
            <a:off x="395111" y="243925"/>
            <a:ext cx="9144000" cy="148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nl-BE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owner/</a:t>
            </a:r>
            <a:r>
              <a:rPr lang="nl-BE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sponsor</a:t>
            </a:r>
            <a:r>
              <a:rPr lang="nl-BE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nl-BE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manager:</a:t>
            </a:r>
            <a:endParaRPr lang="nl-BE"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85;p33"/>
          <p:cNvSpPr/>
          <p:nvPr/>
        </p:nvSpPr>
        <p:spPr>
          <a:xfrm>
            <a:off x="10144663" y="5623251"/>
            <a:ext cx="1935983" cy="327145"/>
          </a:xfrm>
          <a:prstGeom prst="homePlate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nl-BE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OPERATIONS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85;p33"/>
          <p:cNvSpPr/>
          <p:nvPr/>
        </p:nvSpPr>
        <p:spPr>
          <a:xfrm>
            <a:off x="380188" y="5654308"/>
            <a:ext cx="1935983" cy="327145"/>
          </a:xfrm>
          <a:prstGeom prst="homePlate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nl-BE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DISCOVER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" name="Google Shape;286;p33"/>
          <p:cNvGrpSpPr/>
          <p:nvPr/>
        </p:nvGrpSpPr>
        <p:grpSpPr>
          <a:xfrm>
            <a:off x="1989124" y="5586216"/>
            <a:ext cx="2292450" cy="401216"/>
            <a:chOff x="2488747" y="3791774"/>
            <a:chExt cx="2486921" cy="632298"/>
          </a:xfrm>
        </p:grpSpPr>
        <p:sp>
          <p:nvSpPr>
            <p:cNvPr id="24" name="Google Shape;287;p33"/>
            <p:cNvSpPr/>
            <p:nvPr/>
          </p:nvSpPr>
          <p:spPr>
            <a:xfrm>
              <a:off x="2756260" y="3859866"/>
              <a:ext cx="2219408" cy="515566"/>
            </a:xfrm>
            <a:prstGeom prst="chevron">
              <a:avLst>
                <a:gd name="adj" fmla="val 50000"/>
              </a:avLst>
            </a:pr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nl-BE" sz="1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INITIATE</a:t>
              </a:r>
              <a:endParaRPr kumimoji="0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88;p33"/>
            <p:cNvSpPr/>
            <p:nvPr/>
          </p:nvSpPr>
          <p:spPr>
            <a:xfrm>
              <a:off x="2488747" y="3791774"/>
              <a:ext cx="550333" cy="632298"/>
            </a:xfrm>
            <a:prstGeom prst="flowChartDecision">
              <a:avLst/>
            </a:prstGeom>
            <a:solidFill>
              <a:srgbClr val="595959"/>
            </a:solidFill>
            <a:ln w="254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nl-BE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kumimoji="0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" name="Google Shape;289;p33"/>
          <p:cNvGrpSpPr/>
          <p:nvPr/>
        </p:nvGrpSpPr>
        <p:grpSpPr>
          <a:xfrm>
            <a:off x="3977112" y="5586216"/>
            <a:ext cx="2299506" cy="401216"/>
            <a:chOff x="4476735" y="3791774"/>
            <a:chExt cx="2494575" cy="632298"/>
          </a:xfrm>
        </p:grpSpPr>
        <p:sp>
          <p:nvSpPr>
            <p:cNvPr id="27" name="Google Shape;290;p33"/>
            <p:cNvSpPr/>
            <p:nvPr/>
          </p:nvSpPr>
          <p:spPr>
            <a:xfrm>
              <a:off x="4751902" y="3859866"/>
              <a:ext cx="2219408" cy="515566"/>
            </a:xfrm>
            <a:prstGeom prst="chevron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nl-BE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ANALYSE</a:t>
              </a:r>
              <a:endPara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91;p33"/>
            <p:cNvSpPr/>
            <p:nvPr/>
          </p:nvSpPr>
          <p:spPr>
            <a:xfrm>
              <a:off x="4476735" y="3791774"/>
              <a:ext cx="550333" cy="632298"/>
            </a:xfrm>
            <a:prstGeom prst="flowChartDecision">
              <a:avLst/>
            </a:prstGeom>
            <a:solidFill>
              <a:srgbClr val="595959"/>
            </a:solidFill>
            <a:ln w="254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nl-BE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29" name="Google Shape;292;p33"/>
          <p:cNvGrpSpPr/>
          <p:nvPr/>
        </p:nvGrpSpPr>
        <p:grpSpPr>
          <a:xfrm>
            <a:off x="6024153" y="5586216"/>
            <a:ext cx="2252125" cy="401216"/>
            <a:chOff x="6523777" y="3791774"/>
            <a:chExt cx="2443175" cy="632298"/>
          </a:xfrm>
        </p:grpSpPr>
        <p:sp>
          <p:nvSpPr>
            <p:cNvPr id="30" name="Google Shape;293;p33"/>
            <p:cNvSpPr/>
            <p:nvPr/>
          </p:nvSpPr>
          <p:spPr>
            <a:xfrm>
              <a:off x="6747544" y="3859866"/>
              <a:ext cx="2219408" cy="515566"/>
            </a:xfrm>
            <a:prstGeom prst="chevron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nl-BE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BUILD</a:t>
              </a:r>
              <a:endPara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294;p33"/>
            <p:cNvSpPr/>
            <p:nvPr/>
          </p:nvSpPr>
          <p:spPr>
            <a:xfrm>
              <a:off x="6523777" y="3791774"/>
              <a:ext cx="550333" cy="632298"/>
            </a:xfrm>
            <a:prstGeom prst="flowChartDecision">
              <a:avLst/>
            </a:prstGeom>
            <a:solidFill>
              <a:srgbClr val="595959"/>
            </a:solidFill>
            <a:ln w="254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nl-BE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32" name="Google Shape;295;p33"/>
          <p:cNvGrpSpPr/>
          <p:nvPr/>
        </p:nvGrpSpPr>
        <p:grpSpPr>
          <a:xfrm>
            <a:off x="7970496" y="5586216"/>
            <a:ext cx="2297569" cy="401216"/>
            <a:chOff x="8470120" y="3791774"/>
            <a:chExt cx="2492474" cy="632298"/>
          </a:xfrm>
        </p:grpSpPr>
        <p:sp>
          <p:nvSpPr>
            <p:cNvPr id="33" name="Google Shape;296;p33"/>
            <p:cNvSpPr/>
            <p:nvPr/>
          </p:nvSpPr>
          <p:spPr>
            <a:xfrm>
              <a:off x="8743186" y="3859866"/>
              <a:ext cx="2219408" cy="515566"/>
            </a:xfrm>
            <a:prstGeom prst="chevron">
              <a:avLst>
                <a:gd name="adj" fmla="val 50000"/>
              </a:avLst>
            </a:prstGeom>
            <a:solidFill>
              <a:srgbClr val="00B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nl-BE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GO LIVE</a:t>
              </a:r>
              <a:endPara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297;p33"/>
            <p:cNvSpPr/>
            <p:nvPr/>
          </p:nvSpPr>
          <p:spPr>
            <a:xfrm>
              <a:off x="8470120" y="3791774"/>
              <a:ext cx="550333" cy="632298"/>
            </a:xfrm>
            <a:prstGeom prst="flowChartDecision">
              <a:avLst/>
            </a:prstGeom>
            <a:solidFill>
              <a:srgbClr val="595959"/>
            </a:solidFill>
            <a:ln w="254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nl-BE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  <a:sym typeface="Calibri"/>
                </a:rPr>
                <a:t>4</a:t>
              </a:r>
              <a:endPara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35" name="Google Shape;288;p33"/>
          <p:cNvSpPr/>
          <p:nvPr/>
        </p:nvSpPr>
        <p:spPr>
          <a:xfrm>
            <a:off x="39329" y="5586216"/>
            <a:ext cx="507298" cy="401216"/>
          </a:xfrm>
          <a:prstGeom prst="flowChartDecision">
            <a:avLst/>
          </a:prstGeom>
          <a:solidFill>
            <a:srgbClr val="595959"/>
          </a:solidFill>
          <a:ln w="254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nl-BE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0</a:t>
            </a:r>
            <a:endParaRPr kumimoji="0" sz="11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294;p33"/>
          <p:cNvSpPr/>
          <p:nvPr/>
        </p:nvSpPr>
        <p:spPr>
          <a:xfrm>
            <a:off x="9891014" y="5586216"/>
            <a:ext cx="507298" cy="401216"/>
          </a:xfrm>
          <a:prstGeom prst="flowChartDecision">
            <a:avLst/>
          </a:prstGeom>
          <a:solidFill>
            <a:srgbClr val="595959"/>
          </a:solidFill>
          <a:ln w="254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nl-BE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5</a:t>
            </a: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2" name="Rechthoek 1"/>
          <p:cNvSpPr/>
          <p:nvPr/>
        </p:nvSpPr>
        <p:spPr>
          <a:xfrm>
            <a:off x="9812594" y="5495877"/>
            <a:ext cx="707184" cy="581891"/>
          </a:xfrm>
          <a:prstGeom prst="rect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700911" cy="447675"/>
          </a:xfrm>
        </p:spPr>
        <p:txBody>
          <a:bodyPr>
            <a:normAutofit fontScale="90000"/>
          </a:bodyPr>
          <a:lstStyle/>
          <a:p>
            <a:r>
              <a:rPr lang="nl-BE" sz="3200" b="1" dirty="0"/>
              <a:t>INHOUD – CLOSING DOC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idx="1"/>
          </p:nvPr>
        </p:nvSpPr>
        <p:spPr>
          <a:xfrm>
            <a:off x="838200" y="1825625"/>
            <a:ext cx="7175090" cy="4351338"/>
          </a:xfrm>
        </p:spPr>
        <p:txBody>
          <a:bodyPr/>
          <a:lstStyle/>
          <a:p>
            <a:r>
              <a:rPr lang="nl-BE" sz="2000" dirty="0"/>
              <a:t>Evaluation of Initial objectives / deliverables</a:t>
            </a:r>
          </a:p>
          <a:p>
            <a:r>
              <a:rPr lang="nl-BE" sz="2000" dirty="0"/>
              <a:t>Evaluation of </a:t>
            </a:r>
            <a:r>
              <a:rPr lang="nl-BE" sz="2000" dirty="0" err="1"/>
              <a:t>committed</a:t>
            </a:r>
            <a:r>
              <a:rPr lang="nl-BE" sz="2000" dirty="0"/>
              <a:t> project resources</a:t>
            </a:r>
          </a:p>
          <a:p>
            <a:r>
              <a:rPr lang="nl-BE" sz="2000" dirty="0"/>
              <a:t>Validation &amp; follow-up</a:t>
            </a:r>
          </a:p>
          <a:p>
            <a:endParaRPr lang="nl-BE" dirty="0"/>
          </a:p>
          <a:p>
            <a:endParaRPr lang="nl-BE" dirty="0"/>
          </a:p>
        </p:txBody>
      </p:sp>
      <p:graphicFrame>
        <p:nvGraphicFramePr>
          <p:cNvPr id="6" name="Tabel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2719596"/>
              </p:ext>
            </p:extLst>
          </p:nvPr>
        </p:nvGraphicFramePr>
        <p:xfrm>
          <a:off x="8190957" y="1168270"/>
          <a:ext cx="3550771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7350">
                  <a:extLst>
                    <a:ext uri="{9D8B030D-6E8A-4147-A177-3AD203B41FA5}">
                      <a16:colId xmlns:a16="http://schemas.microsoft.com/office/drawing/2014/main" val="2584268751"/>
                    </a:ext>
                  </a:extLst>
                </a:gridCol>
                <a:gridCol w="2023421">
                  <a:extLst>
                    <a:ext uri="{9D8B030D-6E8A-4147-A177-3AD203B41FA5}">
                      <a16:colId xmlns:a16="http://schemas.microsoft.com/office/drawing/2014/main" val="34632675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nl-BE" sz="105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050" dirty="0"/>
                        <a:t>GO LIVE - CLOSE 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801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nl-BE" sz="1050" b="1" dirty="0"/>
                        <a:t>Doel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Het</a:t>
                      </a:r>
                      <a:r>
                        <a:rPr lang="nl-BE" sz="1000" baseline="0" dirty="0"/>
                        <a:t> valideren van het opgeleverde projectresultaat en dit verankeren in de operationele organisatie</a:t>
                      </a:r>
                      <a:endParaRPr lang="nl-B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602680"/>
                  </a:ext>
                </a:extLst>
              </a:tr>
              <a:tr h="1491341">
                <a:tc>
                  <a:txBody>
                    <a:bodyPr/>
                    <a:lstStyle/>
                    <a:p>
                      <a:pPr algn="r"/>
                      <a:r>
                        <a:rPr lang="nl-BE" sz="1050" b="1" dirty="0"/>
                        <a:t>Key activiteiten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1000" dirty="0"/>
                        <a:t>Zijn de nodige afspraken gemaakt met de IT Service Desk:</a:t>
                      </a:r>
                      <a:endParaRPr lang="nl-NL" dirty="0"/>
                    </a:p>
                    <a:p>
                      <a:pPr marL="628650" lvl="1" indent="-171450">
                        <a:buFont typeface="Courier New" panose="020B0604020202020204" pitchFamily="34" charset="0"/>
                        <a:buChar char="o"/>
                      </a:pPr>
                      <a:r>
                        <a:rPr lang="nl-BE" sz="1000" dirty="0"/>
                        <a:t>Incidentflow</a:t>
                      </a:r>
                    </a:p>
                    <a:p>
                      <a:pPr marL="628650" lvl="1" indent="-171450">
                        <a:buFont typeface="Courier New" panose="020B0604020202020204" pitchFamily="34" charset="0"/>
                        <a:buChar char="o"/>
                      </a:pPr>
                      <a:r>
                        <a:rPr lang="nl-BE" sz="1000" dirty="0"/>
                        <a:t>Contactpersonen intern/extern</a:t>
                      </a:r>
                    </a:p>
                    <a:p>
                      <a:pPr marL="628650" lvl="1" indent="-171450">
                        <a:buFont typeface="Courier New" panose="020B0604020202020204" pitchFamily="34" charset="0"/>
                        <a:buChar char="o"/>
                      </a:pPr>
                      <a:r>
                        <a:rPr lang="nl-BE" sz="1000" dirty="0"/>
                        <a:t>SLA beschikbaar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1000" dirty="0"/>
                        <a:t>Opvolging van de</a:t>
                      </a:r>
                      <a:r>
                        <a:rPr lang="nl-BE" sz="1000" baseline="0" dirty="0"/>
                        <a:t> (eerste) operationele resultaten tgv projectimplementatie.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1000" baseline="0" dirty="0"/>
                        <a:t>Bevestiging dat project het gewenste resultaat oplevert – Closing meeting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1000" baseline="0" dirty="0"/>
                        <a:t>Bijsturen waar nodig, nazorg.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1000" baseline="0" dirty="0"/>
                        <a:t>Communicatie organisatie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1000" baseline="0" dirty="0"/>
                        <a:t>Aanpak post-project review</a:t>
                      </a:r>
                      <a:endParaRPr lang="nl-B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486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nl-BE" sz="1050" b="1" dirty="0"/>
                        <a:t>Key output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1000" dirty="0"/>
                        <a:t>Closing document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431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nl-BE" sz="1050" b="1" dirty="0"/>
                        <a:t>Goedkeurder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1000" dirty="0" err="1"/>
                        <a:t>Steerco</a:t>
                      </a:r>
                      <a:r>
                        <a:rPr lang="nl-BE" sz="1000" dirty="0"/>
                        <a:t> / CIO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325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15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8700911" cy="419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nl-BE" sz="2800" b="1" dirty="0"/>
              <a:t>EVALUATION OF INITIAL OBJECTIVES / DELIVERABLES</a:t>
            </a:r>
          </a:p>
        </p:txBody>
      </p:sp>
      <p:graphicFrame>
        <p:nvGraphicFramePr>
          <p:cNvPr id="4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776090"/>
              </p:ext>
            </p:extLst>
          </p:nvPr>
        </p:nvGraphicFramePr>
        <p:xfrm>
          <a:off x="922675" y="4155619"/>
          <a:ext cx="10346645" cy="210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7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86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71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41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341">
                <a:tc>
                  <a:txBody>
                    <a:bodyPr/>
                    <a:lstStyle>
                      <a:lvl1pPr marL="0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423117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846234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269351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1692470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115587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2538703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2961822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3384939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r>
                        <a:rPr lang="nl-BE" sz="1200" dirty="0">
                          <a:latin typeface="+mn-lt"/>
                        </a:rPr>
                        <a:t>#</a:t>
                      </a:r>
                      <a:endParaRPr lang="nl-BE" sz="1200" dirty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T="34291" marB="34291"/>
                </a:tc>
                <a:tc>
                  <a:txBody>
                    <a:bodyPr/>
                    <a:lstStyle>
                      <a:lvl1pPr marL="0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423117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846234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269351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1692470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115587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2538703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2961822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3384939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r>
                        <a:rPr lang="nl-BE" sz="1200" dirty="0">
                          <a:latin typeface="+mn-lt"/>
                        </a:rPr>
                        <a:t>Deliverables</a:t>
                      </a:r>
                    </a:p>
                  </a:txBody>
                  <a:tcPr marT="34291" marB="34291"/>
                </a:tc>
                <a:tc>
                  <a:txBody>
                    <a:bodyPr/>
                    <a:lstStyle>
                      <a:lvl1pPr marL="0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423117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846234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269351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1692470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115587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2538703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2961822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3384939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r>
                        <a:rPr lang="nl-BE" sz="1200" dirty="0">
                          <a:latin typeface="+mn-lt"/>
                        </a:rPr>
                        <a:t>Realized?</a:t>
                      </a:r>
                    </a:p>
                    <a:p>
                      <a:r>
                        <a:rPr lang="nl-BE" sz="1200" dirty="0">
                          <a:latin typeface="+mn-lt"/>
                        </a:rPr>
                        <a:t>Y/N</a:t>
                      </a:r>
                      <a:r>
                        <a:rPr lang="nl-BE" sz="1200" baseline="0" dirty="0">
                          <a:latin typeface="+mn-lt"/>
                        </a:rPr>
                        <a:t> + date</a:t>
                      </a:r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tc>
                  <a:txBody>
                    <a:bodyPr/>
                    <a:lstStyle>
                      <a:lvl1pPr marL="0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423117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846234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269351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1692470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115587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2538703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2961822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3384939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r>
                        <a:rPr lang="nl-BE" sz="1200" dirty="0">
                          <a:latin typeface="+mn-lt"/>
                        </a:rPr>
                        <a:t>Comment</a:t>
                      </a:r>
                    </a:p>
                  </a:txBody>
                  <a:tcPr marT="34291" marB="3429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21">
                <a:tc>
                  <a:txBody>
                    <a:bodyPr/>
                    <a:lstStyle>
                      <a:lvl1pPr marL="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2311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846234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269351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69247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11558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538703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2961822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384939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r>
                        <a:rPr lang="nl-BE" sz="1200" dirty="0">
                          <a:latin typeface="+mn-lt"/>
                        </a:rPr>
                        <a:t>1</a:t>
                      </a:r>
                    </a:p>
                  </a:txBody>
                  <a:tcPr marT="34291" marB="34291"/>
                </a:tc>
                <a:tc>
                  <a:txBody>
                    <a:bodyPr/>
                    <a:lstStyle>
                      <a:lvl1pPr marL="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2311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846234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269351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69247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11558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538703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2961822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384939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tc>
                  <a:txBody>
                    <a:bodyPr/>
                    <a:lstStyle>
                      <a:lvl1pPr marL="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2311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846234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269351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69247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11558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538703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2961822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384939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tc>
                  <a:txBody>
                    <a:bodyPr/>
                    <a:lstStyle>
                      <a:lvl1pPr marL="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2311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846234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269351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69247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11558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538703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2961822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384939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218">
                <a:tc>
                  <a:txBody>
                    <a:bodyPr/>
                    <a:lstStyle>
                      <a:lvl1pPr marL="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2311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846234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269351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69247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11558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538703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2961822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384939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r>
                        <a:rPr lang="nl-BE" sz="1200" dirty="0">
                          <a:latin typeface="+mn-lt"/>
                        </a:rPr>
                        <a:t>2</a:t>
                      </a:r>
                    </a:p>
                  </a:txBody>
                  <a:tcPr marT="34291" marB="34291"/>
                </a:tc>
                <a:tc>
                  <a:txBody>
                    <a:bodyPr/>
                    <a:lstStyle>
                      <a:lvl1pPr marL="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2311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846234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269351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69247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11558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538703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2961822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384939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tc>
                  <a:txBody>
                    <a:bodyPr/>
                    <a:lstStyle>
                      <a:lvl1pPr marL="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2311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846234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269351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69247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11558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538703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2961822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384939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tc>
                  <a:txBody>
                    <a:bodyPr/>
                    <a:lstStyle>
                      <a:lvl1pPr marL="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2311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846234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269351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69247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11558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538703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2961822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384939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036">
                <a:tc>
                  <a:txBody>
                    <a:bodyPr/>
                    <a:lstStyle>
                      <a:lvl1pPr marL="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2311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846234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269351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69247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11558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538703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2961822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384939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r>
                        <a:rPr lang="nl-BE" sz="1200" dirty="0">
                          <a:latin typeface="+mn-lt"/>
                        </a:rPr>
                        <a:t>3</a:t>
                      </a:r>
                    </a:p>
                  </a:txBody>
                  <a:tcPr marT="34291" marB="34291"/>
                </a:tc>
                <a:tc>
                  <a:txBody>
                    <a:bodyPr/>
                    <a:lstStyle>
                      <a:lvl1pPr marL="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2311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846234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269351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69247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11558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538703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2961822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384939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tc>
                  <a:txBody>
                    <a:bodyPr/>
                    <a:lstStyle>
                      <a:lvl1pPr marL="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2311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846234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269351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69247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11558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538703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2961822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384939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tc>
                  <a:txBody>
                    <a:bodyPr/>
                    <a:lstStyle>
                      <a:lvl1pPr marL="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2311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846234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269351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69247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11558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538703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2961822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384939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endParaRPr lang="nl-BE" sz="1200">
                        <a:latin typeface="+mn-lt"/>
                      </a:endParaRPr>
                    </a:p>
                  </a:txBody>
                  <a:tcPr marT="34291" marB="3429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82">
                <a:tc>
                  <a:txBody>
                    <a:bodyPr/>
                    <a:lstStyle>
                      <a:lvl1pPr marL="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2311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846234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269351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69247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11558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538703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2961822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384939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r>
                        <a:rPr lang="nl-BE" sz="1200" dirty="0">
                          <a:latin typeface="+mn-lt"/>
                        </a:rPr>
                        <a:t>4</a:t>
                      </a:r>
                    </a:p>
                  </a:txBody>
                  <a:tcPr marT="34291" marB="34291"/>
                </a:tc>
                <a:tc>
                  <a:txBody>
                    <a:bodyPr/>
                    <a:lstStyle>
                      <a:lvl1pPr marL="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2311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846234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269351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69247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11558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538703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2961822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384939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tc>
                  <a:txBody>
                    <a:bodyPr/>
                    <a:lstStyle>
                      <a:lvl1pPr marL="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2311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846234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269351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69247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11558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538703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2961822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384939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tc>
                  <a:txBody>
                    <a:bodyPr/>
                    <a:lstStyle>
                      <a:lvl1pPr marL="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2311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846234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269351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69247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11558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538703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2961822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384939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036">
                <a:tc>
                  <a:txBody>
                    <a:bodyPr/>
                    <a:lstStyle>
                      <a:lvl1pPr marL="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2311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846234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269351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69247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11558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538703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2961822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384939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r>
                        <a:rPr lang="nl-BE" sz="1200" dirty="0">
                          <a:latin typeface="+mn-lt"/>
                        </a:rPr>
                        <a:t>5</a:t>
                      </a:r>
                    </a:p>
                  </a:txBody>
                  <a:tcPr marT="34291" marB="34291"/>
                </a:tc>
                <a:tc>
                  <a:txBody>
                    <a:bodyPr/>
                    <a:lstStyle>
                      <a:lvl1pPr marL="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2311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846234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269351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69247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11558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538703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2961822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384939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tc>
                  <a:txBody>
                    <a:bodyPr/>
                    <a:lstStyle>
                      <a:lvl1pPr marL="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2311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846234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269351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69247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11558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538703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2961822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384939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tc>
                  <a:txBody>
                    <a:bodyPr/>
                    <a:lstStyle>
                      <a:lvl1pPr marL="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2311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846234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269351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69247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11558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538703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2961822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384939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952709"/>
              </p:ext>
            </p:extLst>
          </p:nvPr>
        </p:nvGraphicFramePr>
        <p:xfrm>
          <a:off x="922675" y="1233931"/>
          <a:ext cx="10346646" cy="20590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5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1248">
                  <a:extLst>
                    <a:ext uri="{9D8B030D-6E8A-4147-A177-3AD203B41FA5}">
                      <a16:colId xmlns:a16="http://schemas.microsoft.com/office/drawing/2014/main" val="1882508104"/>
                    </a:ext>
                  </a:extLst>
                </a:gridCol>
              </a:tblGrid>
              <a:tr h="400905">
                <a:tc gridSpan="2">
                  <a:txBody>
                    <a:bodyPr/>
                    <a:lstStyle>
                      <a:lvl1pPr marL="0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423117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846234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269351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1692470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115587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2538703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2961822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3384939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r>
                        <a:rPr lang="nl-BE" sz="1200" dirty="0">
                          <a:latin typeface="+mn-lt"/>
                        </a:rPr>
                        <a:t>Realization of expected project</a:t>
                      </a:r>
                      <a:r>
                        <a:rPr lang="nl-BE" sz="1200" baseline="0" dirty="0">
                          <a:latin typeface="+mn-lt"/>
                        </a:rPr>
                        <a:t> objectives / benefits</a:t>
                      </a:r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tc hMerge="1">
                  <a:txBody>
                    <a:bodyPr/>
                    <a:lstStyle/>
                    <a:p>
                      <a:endParaRPr lang="nl-BE" sz="1200" dirty="0"/>
                    </a:p>
                  </a:txBody>
                  <a:tcPr marT="34291" marB="3429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9083">
                <a:tc>
                  <a:txBody>
                    <a:bodyPr/>
                    <a:lstStyle>
                      <a:lvl1pPr marL="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2311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846234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269351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69247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11558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538703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2961822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384939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r>
                        <a:rPr lang="nl-BE" sz="1200" b="0" dirty="0">
                          <a:latin typeface="+mn-lt"/>
                        </a:rPr>
                        <a:t>Quantitative</a:t>
                      </a:r>
                      <a:r>
                        <a:rPr lang="nl-BE" sz="1200" b="0" baseline="0" dirty="0">
                          <a:latin typeface="+mn-lt"/>
                        </a:rPr>
                        <a:t> / Financial</a:t>
                      </a:r>
                      <a:endParaRPr lang="nl-BE" sz="1200" b="0" dirty="0">
                        <a:latin typeface="+mn-lt"/>
                      </a:endParaRPr>
                    </a:p>
                  </a:txBody>
                  <a:tcPr marT="34291" marB="34291"/>
                </a:tc>
                <a:tc>
                  <a:txBody>
                    <a:bodyPr/>
                    <a:lstStyle/>
                    <a:p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9083">
                <a:tc>
                  <a:txBody>
                    <a:bodyPr/>
                    <a:lstStyle/>
                    <a:p>
                      <a:r>
                        <a:rPr lang="nl-BE" sz="12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Qualitative</a:t>
                      </a:r>
                    </a:p>
                  </a:txBody>
                  <a:tcPr marT="34291" marB="34291"/>
                </a:tc>
                <a:tc>
                  <a:txBody>
                    <a:bodyPr/>
                    <a:lstStyle/>
                    <a:p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extLst>
                  <a:ext uri="{0D108BD9-81ED-4DB2-BD59-A6C34878D82A}">
                    <a16:rowId xmlns:a16="http://schemas.microsoft.com/office/drawing/2014/main" val="3562132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4947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8700911" cy="466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nl-BE" sz="2800" b="1" dirty="0"/>
              <a:t>EVALUATION OF PROJECT RESOURCES</a:t>
            </a:r>
          </a:p>
        </p:txBody>
      </p:sp>
      <p:graphicFrame>
        <p:nvGraphicFramePr>
          <p:cNvPr id="6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725973"/>
              </p:ext>
            </p:extLst>
          </p:nvPr>
        </p:nvGraphicFramePr>
        <p:xfrm>
          <a:off x="838200" y="1714733"/>
          <a:ext cx="10391080" cy="2160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971">
                  <a:extLst>
                    <a:ext uri="{9D8B030D-6E8A-4147-A177-3AD203B41FA5}">
                      <a16:colId xmlns:a16="http://schemas.microsoft.com/office/drawing/2014/main" val="3738114415"/>
                    </a:ext>
                  </a:extLst>
                </a:gridCol>
                <a:gridCol w="1588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7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12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73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6183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endParaRPr lang="en-US" sz="12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34291" marB="34291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US" sz="1200" kern="1200" dirty="0">
                          <a:latin typeface="+mn-lt"/>
                        </a:rPr>
                        <a:t>Committed Resources</a:t>
                      </a:r>
                    </a:p>
                    <a:p>
                      <a:pPr marL="0" algn="ctr" defTabSz="914400" rtl="0" eaLnBrk="1" fontAlgn="t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INIT</a:t>
                      </a:r>
                    </a:p>
                  </a:txBody>
                  <a:tcPr marT="34291" marB="34291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nl-BE" sz="1200" kern="1200" dirty="0" err="1">
                          <a:latin typeface="+mn-lt"/>
                        </a:rPr>
                        <a:t>Spend</a:t>
                      </a:r>
                      <a:endParaRPr lang="nl-BE" sz="1200" kern="1200" dirty="0">
                        <a:latin typeface="+mn-lt"/>
                      </a:endParaRPr>
                    </a:p>
                    <a:p>
                      <a:pPr marL="0" algn="ctr" defTabSz="914400" rtl="0" eaLnBrk="1" fontAlgn="t" latinLnBrk="0" hangingPunct="1"/>
                      <a:r>
                        <a:rPr lang="nl-BE" sz="1200" kern="1200" dirty="0">
                          <a:latin typeface="+mn-lt"/>
                        </a:rPr>
                        <a:t> </a:t>
                      </a:r>
                      <a:endParaRPr lang="nl-BE" sz="12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34291" marB="34291"/>
                </a:tc>
                <a:tc>
                  <a:txBody>
                    <a:bodyPr/>
                    <a:lstStyle/>
                    <a:p>
                      <a:pPr marL="0" marR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kern="1200" dirty="0" err="1">
                          <a:latin typeface="+mn-lt"/>
                        </a:rPr>
                        <a:t>Difference</a:t>
                      </a:r>
                      <a:endParaRPr lang="nl-BE" sz="1200" kern="1200" dirty="0">
                        <a:latin typeface="+mn-lt"/>
                      </a:endParaRPr>
                    </a:p>
                    <a:p>
                      <a:pPr marL="0" marR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kern="1200" dirty="0">
                          <a:latin typeface="+mn-lt"/>
                        </a:rPr>
                        <a:t>(</a:t>
                      </a:r>
                      <a:r>
                        <a:rPr lang="nl-BE" sz="1200" kern="1200" dirty="0" err="1">
                          <a:latin typeface="+mn-lt"/>
                        </a:rPr>
                        <a:t>Spend</a:t>
                      </a:r>
                      <a:r>
                        <a:rPr lang="nl-BE" sz="1200" kern="1200" dirty="0">
                          <a:latin typeface="+mn-lt"/>
                        </a:rPr>
                        <a:t> vs. Commitment)</a:t>
                      </a:r>
                    </a:p>
                    <a:p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tc>
                  <a:txBody>
                    <a:bodyPr/>
                    <a:lstStyle/>
                    <a:p>
                      <a:r>
                        <a:rPr lang="nl-BE" sz="1200" kern="1200" dirty="0">
                          <a:latin typeface="+mn-lt"/>
                        </a:rPr>
                        <a:t>Comment</a:t>
                      </a:r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667">
                <a:tc>
                  <a:txBody>
                    <a:bodyPr/>
                    <a:lstStyle/>
                    <a:p>
                      <a:r>
                        <a:rPr lang="nl-BE" sz="1200" dirty="0" err="1">
                          <a:latin typeface="+mn-lt"/>
                        </a:rPr>
                        <a:t>Internal</a:t>
                      </a:r>
                      <a:r>
                        <a:rPr lang="nl-BE" sz="1200" dirty="0">
                          <a:latin typeface="+mn-lt"/>
                        </a:rPr>
                        <a:t> MD </a:t>
                      </a:r>
                    </a:p>
                  </a:txBody>
                  <a:tcPr marT="34291" marB="34291"/>
                </a:tc>
                <a:tc>
                  <a:txBody>
                    <a:bodyPr/>
                    <a:lstStyle/>
                    <a:p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tc>
                  <a:txBody>
                    <a:bodyPr/>
                    <a:lstStyle/>
                    <a:p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tc>
                  <a:txBody>
                    <a:bodyPr/>
                    <a:lstStyle/>
                    <a:p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tc>
                  <a:txBody>
                    <a:bodyPr/>
                    <a:lstStyle/>
                    <a:p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667">
                <a:tc>
                  <a:txBody>
                    <a:bodyPr/>
                    <a:lstStyle/>
                    <a:p>
                      <a:r>
                        <a:rPr lang="nl-BE" sz="1200" dirty="0" err="1">
                          <a:latin typeface="+mn-lt"/>
                        </a:rPr>
                        <a:t>External</a:t>
                      </a:r>
                      <a:r>
                        <a:rPr lang="nl-BE" sz="1200" dirty="0">
                          <a:latin typeface="+mn-lt"/>
                        </a:rPr>
                        <a:t> resources</a:t>
                      </a:r>
                      <a:r>
                        <a:rPr lang="nl-BE" sz="1200" baseline="0" dirty="0">
                          <a:latin typeface="+mn-lt"/>
                        </a:rPr>
                        <a:t> in </a:t>
                      </a:r>
                      <a:r>
                        <a:rPr lang="nl-BE" sz="1200" dirty="0">
                          <a:latin typeface="+mn-lt"/>
                        </a:rPr>
                        <a:t>€</a:t>
                      </a:r>
                    </a:p>
                  </a:txBody>
                  <a:tcPr marT="34291" marB="34291"/>
                </a:tc>
                <a:tc>
                  <a:txBody>
                    <a:bodyPr/>
                    <a:lstStyle/>
                    <a:p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tc>
                  <a:txBody>
                    <a:bodyPr/>
                    <a:lstStyle/>
                    <a:p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tc>
                  <a:txBody>
                    <a:bodyPr/>
                    <a:lstStyle/>
                    <a:p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tc>
                  <a:txBody>
                    <a:bodyPr/>
                    <a:lstStyle/>
                    <a:p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extLst>
                  <a:ext uri="{0D108BD9-81ED-4DB2-BD59-A6C34878D82A}">
                    <a16:rowId xmlns:a16="http://schemas.microsoft.com/office/drawing/2014/main" val="3278374992"/>
                  </a:ext>
                </a:extLst>
              </a:tr>
              <a:tr h="504667">
                <a:tc>
                  <a:txBody>
                    <a:bodyPr/>
                    <a:lstStyle/>
                    <a:p>
                      <a:r>
                        <a:rPr lang="nl-BE" sz="1200" dirty="0" err="1">
                          <a:latin typeface="+mn-lt"/>
                        </a:rPr>
                        <a:t>Other</a:t>
                      </a:r>
                      <a:r>
                        <a:rPr lang="nl-BE" sz="1200" dirty="0">
                          <a:latin typeface="+mn-lt"/>
                        </a:rPr>
                        <a:t> </a:t>
                      </a:r>
                      <a:r>
                        <a:rPr lang="nl-BE" sz="1200" dirty="0" err="1">
                          <a:latin typeface="+mn-lt"/>
                        </a:rPr>
                        <a:t>expenses</a:t>
                      </a:r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tc>
                  <a:txBody>
                    <a:bodyPr/>
                    <a:lstStyle/>
                    <a:p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tc>
                  <a:txBody>
                    <a:bodyPr/>
                    <a:lstStyle/>
                    <a:p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tc>
                  <a:txBody>
                    <a:bodyPr/>
                    <a:lstStyle/>
                    <a:p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tc>
                  <a:txBody>
                    <a:bodyPr/>
                    <a:lstStyle/>
                    <a:p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extLst>
                  <a:ext uri="{0D108BD9-81ED-4DB2-BD59-A6C34878D82A}">
                    <a16:rowId xmlns:a16="http://schemas.microsoft.com/office/drawing/2014/main" val="38678680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3700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8700911" cy="392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nl-BE" sz="2800" b="1" dirty="0"/>
              <a:t>VALIDATION PROJECT RESULT &amp; FOLLOW-UP</a:t>
            </a:r>
          </a:p>
        </p:txBody>
      </p:sp>
      <p:graphicFrame>
        <p:nvGraphicFramePr>
          <p:cNvPr id="4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75278"/>
              </p:ext>
            </p:extLst>
          </p:nvPr>
        </p:nvGraphicFramePr>
        <p:xfrm>
          <a:off x="922675" y="1233931"/>
          <a:ext cx="10346647" cy="2733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6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8328">
                  <a:extLst>
                    <a:ext uri="{9D8B030D-6E8A-4147-A177-3AD203B41FA5}">
                      <a16:colId xmlns:a16="http://schemas.microsoft.com/office/drawing/2014/main" val="1882508104"/>
                    </a:ext>
                  </a:extLst>
                </a:gridCol>
                <a:gridCol w="6632667">
                  <a:extLst>
                    <a:ext uri="{9D8B030D-6E8A-4147-A177-3AD203B41FA5}">
                      <a16:colId xmlns:a16="http://schemas.microsoft.com/office/drawing/2014/main" val="2358008455"/>
                    </a:ext>
                  </a:extLst>
                </a:gridCol>
              </a:tblGrid>
              <a:tr h="328681">
                <a:tc gridSpan="3">
                  <a:txBody>
                    <a:bodyPr/>
                    <a:lstStyle>
                      <a:lvl1pPr marL="0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423117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846234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269351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1692470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115587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2538703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2961822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3384939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r>
                        <a:rPr lang="nl-BE" sz="1200" baseline="0" dirty="0">
                          <a:latin typeface="+mn-lt"/>
                        </a:rPr>
                        <a:t>Validation of project result </a:t>
                      </a:r>
                      <a:r>
                        <a:rPr lang="nl-BE" sz="1200" baseline="0" dirty="0" err="1">
                          <a:latin typeface="+mn-lt"/>
                        </a:rPr>
                        <a:t>by</a:t>
                      </a:r>
                      <a:r>
                        <a:rPr lang="nl-BE" sz="1200" baseline="0" dirty="0">
                          <a:latin typeface="+mn-lt"/>
                        </a:rPr>
                        <a:t>:</a:t>
                      </a:r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tc hMerge="1">
                  <a:txBody>
                    <a:bodyPr/>
                    <a:lstStyle/>
                    <a:p>
                      <a:endParaRPr lang="nl-BE" sz="1200" dirty="0"/>
                    </a:p>
                  </a:txBody>
                  <a:tcPr marT="34291" marB="34291"/>
                </a:tc>
                <a:tc hMerge="1">
                  <a:txBody>
                    <a:bodyPr/>
                    <a:lstStyle/>
                    <a:p>
                      <a:endParaRPr lang="nl-BE" sz="1200" dirty="0"/>
                    </a:p>
                  </a:txBody>
                  <a:tcPr marT="34291" marB="3429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318">
                <a:tc>
                  <a:txBody>
                    <a:bodyPr/>
                    <a:lstStyle/>
                    <a:p>
                      <a:endParaRPr lang="nl-BE" sz="1200" b="0" dirty="0">
                        <a:latin typeface="+mn-lt"/>
                      </a:endParaRPr>
                    </a:p>
                  </a:txBody>
                  <a:tcPr marT="34291" marB="34291"/>
                </a:tc>
                <a:tc>
                  <a:txBody>
                    <a:bodyPr/>
                    <a:lstStyle/>
                    <a:p>
                      <a:r>
                        <a:rPr lang="nl-BE" sz="1200" dirty="0">
                          <a:latin typeface="+mn-lt"/>
                        </a:rPr>
                        <a:t>Name</a:t>
                      </a:r>
                    </a:p>
                  </a:txBody>
                  <a:tcPr marT="34291" marB="34291"/>
                </a:tc>
                <a:tc>
                  <a:txBody>
                    <a:bodyPr/>
                    <a:lstStyle/>
                    <a:p>
                      <a:r>
                        <a:rPr lang="nl-BE" sz="1200" dirty="0">
                          <a:latin typeface="+mn-lt"/>
                        </a:rPr>
                        <a:t>Comment</a:t>
                      </a:r>
                    </a:p>
                  </a:txBody>
                  <a:tcPr marT="34291" marB="34291"/>
                </a:tc>
                <a:extLst>
                  <a:ext uri="{0D108BD9-81ED-4DB2-BD59-A6C34878D82A}">
                    <a16:rowId xmlns:a16="http://schemas.microsoft.com/office/drawing/2014/main" val="360356122"/>
                  </a:ext>
                </a:extLst>
              </a:tr>
              <a:tr h="458071">
                <a:tc>
                  <a:txBody>
                    <a:bodyPr/>
                    <a:lstStyle>
                      <a:lvl1pPr marL="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2311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846234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269351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69247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11558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538703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2961822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384939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r>
                        <a:rPr lang="nl-BE" sz="1200" b="0" dirty="0">
                          <a:latin typeface="+mn-lt"/>
                        </a:rPr>
                        <a:t>Business</a:t>
                      </a:r>
                    </a:p>
                  </a:txBody>
                  <a:tcPr marT="34291" marB="34291"/>
                </a:tc>
                <a:tc>
                  <a:txBody>
                    <a:bodyPr/>
                    <a:lstStyle/>
                    <a:p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tc>
                  <a:txBody>
                    <a:bodyPr/>
                    <a:lstStyle/>
                    <a:p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nl-BE" sz="1200" b="0" dirty="0">
                          <a:latin typeface="+mn-lt"/>
                        </a:rPr>
                        <a:t>I.T.</a:t>
                      </a:r>
                    </a:p>
                  </a:txBody>
                  <a:tcPr marT="34291" marB="34291"/>
                </a:tc>
                <a:tc>
                  <a:txBody>
                    <a:bodyPr/>
                    <a:lstStyle/>
                    <a:p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tc>
                  <a:txBody>
                    <a:bodyPr/>
                    <a:lstStyle/>
                    <a:p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extLst>
                  <a:ext uri="{0D108BD9-81ED-4DB2-BD59-A6C34878D82A}">
                    <a16:rowId xmlns:a16="http://schemas.microsoft.com/office/drawing/2014/main" val="356213208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nl-BE" sz="1200" b="0" dirty="0">
                          <a:latin typeface="+mn-lt"/>
                        </a:rPr>
                        <a:t>EA</a:t>
                      </a:r>
                    </a:p>
                  </a:txBody>
                  <a:tcPr marT="34291" marB="34291"/>
                </a:tc>
                <a:tc>
                  <a:txBody>
                    <a:bodyPr/>
                    <a:lstStyle/>
                    <a:p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tc>
                  <a:txBody>
                    <a:bodyPr/>
                    <a:lstStyle/>
                    <a:p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extLst>
                  <a:ext uri="{0D108BD9-81ED-4DB2-BD59-A6C34878D82A}">
                    <a16:rowId xmlns:a16="http://schemas.microsoft.com/office/drawing/2014/main" val="3449760844"/>
                  </a:ext>
                </a:extLst>
              </a:tr>
              <a:tr h="679722">
                <a:tc>
                  <a:txBody>
                    <a:bodyPr/>
                    <a:lstStyle/>
                    <a:p>
                      <a:r>
                        <a:rPr lang="nl-BE" sz="1200" b="0" dirty="0" err="1">
                          <a:latin typeface="+mn-lt"/>
                        </a:rPr>
                        <a:t>Other</a:t>
                      </a:r>
                      <a:r>
                        <a:rPr lang="nl-BE" sz="1200" b="0" baseline="0" dirty="0">
                          <a:latin typeface="+mn-lt"/>
                        </a:rPr>
                        <a:t> stakeholders</a:t>
                      </a:r>
                      <a:endParaRPr lang="nl-BE" sz="1200" b="0" dirty="0">
                        <a:latin typeface="+mn-lt"/>
                      </a:endParaRPr>
                    </a:p>
                  </a:txBody>
                  <a:tcPr marT="34291" marB="34291"/>
                </a:tc>
                <a:tc>
                  <a:txBody>
                    <a:bodyPr/>
                    <a:lstStyle/>
                    <a:p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tc>
                  <a:txBody>
                    <a:bodyPr/>
                    <a:lstStyle/>
                    <a:p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extLst>
                  <a:ext uri="{0D108BD9-81ED-4DB2-BD59-A6C34878D82A}">
                    <a16:rowId xmlns:a16="http://schemas.microsoft.com/office/drawing/2014/main" val="1251579539"/>
                  </a:ext>
                </a:extLst>
              </a:tr>
            </a:tbl>
          </a:graphicData>
        </a:graphic>
      </p:graphicFrame>
      <p:graphicFrame>
        <p:nvGraphicFramePr>
          <p:cNvPr id="5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14314"/>
              </p:ext>
            </p:extLst>
          </p:nvPr>
        </p:nvGraphicFramePr>
        <p:xfrm>
          <a:off x="922674" y="4199486"/>
          <a:ext cx="10346647" cy="1717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5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51139">
                  <a:extLst>
                    <a:ext uri="{9D8B030D-6E8A-4147-A177-3AD203B41FA5}">
                      <a16:colId xmlns:a16="http://schemas.microsoft.com/office/drawing/2014/main" val="1882508104"/>
                    </a:ext>
                  </a:extLst>
                </a:gridCol>
              </a:tblGrid>
              <a:tr h="328681">
                <a:tc gridSpan="2">
                  <a:txBody>
                    <a:bodyPr/>
                    <a:lstStyle>
                      <a:lvl1pPr marL="0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423117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846234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269351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1692470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115587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2538703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2961822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3384939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r>
                        <a:rPr lang="nl-BE" sz="1200" dirty="0" err="1">
                          <a:latin typeface="+mn-lt"/>
                        </a:rPr>
                        <a:t>Describe</a:t>
                      </a:r>
                      <a:r>
                        <a:rPr lang="nl-BE" sz="1200" dirty="0">
                          <a:latin typeface="+mn-lt"/>
                        </a:rPr>
                        <a:t> </a:t>
                      </a:r>
                      <a:r>
                        <a:rPr lang="nl-BE" sz="1200" dirty="0" err="1">
                          <a:latin typeface="+mn-lt"/>
                        </a:rPr>
                        <a:t>how</a:t>
                      </a:r>
                      <a:r>
                        <a:rPr lang="nl-BE" sz="1200" dirty="0">
                          <a:latin typeface="+mn-lt"/>
                        </a:rPr>
                        <a:t> the project</a:t>
                      </a:r>
                      <a:r>
                        <a:rPr lang="nl-BE" sz="1200" baseline="0" dirty="0">
                          <a:latin typeface="+mn-lt"/>
                        </a:rPr>
                        <a:t> result is </a:t>
                      </a:r>
                      <a:r>
                        <a:rPr lang="nl-BE" sz="1200" baseline="0" dirty="0" err="1">
                          <a:latin typeface="+mn-lt"/>
                        </a:rPr>
                        <a:t>integrated</a:t>
                      </a:r>
                      <a:r>
                        <a:rPr lang="nl-BE" sz="1200" baseline="0" dirty="0">
                          <a:latin typeface="+mn-lt"/>
                        </a:rPr>
                        <a:t> in the </a:t>
                      </a:r>
                      <a:r>
                        <a:rPr lang="nl-BE" sz="1200" baseline="0" dirty="0" err="1">
                          <a:latin typeface="+mn-lt"/>
                        </a:rPr>
                        <a:t>organization</a:t>
                      </a:r>
                      <a:r>
                        <a:rPr lang="nl-BE" sz="1200" baseline="0" dirty="0">
                          <a:latin typeface="+mn-lt"/>
                        </a:rPr>
                        <a:t> + follow up </a:t>
                      </a:r>
                      <a:r>
                        <a:rPr lang="nl-BE" sz="1200" baseline="0" dirty="0" err="1">
                          <a:latin typeface="+mn-lt"/>
                        </a:rPr>
                        <a:t>KPI’s</a:t>
                      </a:r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tc hMerge="1">
                  <a:txBody>
                    <a:bodyPr/>
                    <a:lstStyle/>
                    <a:p>
                      <a:endParaRPr lang="nl-BE" sz="1200" dirty="0"/>
                    </a:p>
                  </a:txBody>
                  <a:tcPr marT="34291" marB="3429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318">
                <a:tc>
                  <a:txBody>
                    <a:bodyPr/>
                    <a:lstStyle/>
                    <a:p>
                      <a:endParaRPr lang="nl-BE" sz="1200" b="0" dirty="0">
                        <a:latin typeface="+mn-lt"/>
                      </a:endParaRPr>
                    </a:p>
                  </a:txBody>
                  <a:tcPr marT="34291" marB="34291"/>
                </a:tc>
                <a:tc>
                  <a:txBody>
                    <a:bodyPr/>
                    <a:lstStyle/>
                    <a:p>
                      <a:r>
                        <a:rPr lang="nl-BE" sz="1200" dirty="0">
                          <a:latin typeface="+mn-lt"/>
                        </a:rPr>
                        <a:t>How?</a:t>
                      </a:r>
                    </a:p>
                  </a:txBody>
                  <a:tcPr marT="34291" marB="34291"/>
                </a:tc>
                <a:extLst>
                  <a:ext uri="{0D108BD9-81ED-4DB2-BD59-A6C34878D82A}">
                    <a16:rowId xmlns:a16="http://schemas.microsoft.com/office/drawing/2014/main" val="360356122"/>
                  </a:ext>
                </a:extLst>
              </a:tr>
              <a:tr h="458071">
                <a:tc>
                  <a:txBody>
                    <a:bodyPr/>
                    <a:lstStyle>
                      <a:lvl1pPr marL="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2311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846234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269351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69247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11558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538703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2961822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384939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r>
                        <a:rPr lang="nl-BE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Integration in </a:t>
                      </a:r>
                      <a:r>
                        <a:rPr lang="nl-BE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Organization</a:t>
                      </a:r>
                      <a:endParaRPr lang="nl-BE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34291" marB="34291"/>
                </a:tc>
                <a:tc>
                  <a:txBody>
                    <a:bodyPr/>
                    <a:lstStyle/>
                    <a:p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722">
                <a:tc>
                  <a:txBody>
                    <a:bodyPr/>
                    <a:lstStyle/>
                    <a:p>
                      <a:pPr marL="0" algn="l" defTabSz="846234" rtl="0" eaLnBrk="1" latinLnBrk="0" hangingPunct="1"/>
                      <a:r>
                        <a:rPr lang="nl-BE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Follow up </a:t>
                      </a:r>
                      <a:r>
                        <a:rPr lang="nl-BE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KPI’s</a:t>
                      </a:r>
                      <a:endParaRPr lang="nl-BE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34291" marB="34291"/>
                </a:tc>
                <a:tc>
                  <a:txBody>
                    <a:bodyPr/>
                    <a:lstStyle/>
                    <a:p>
                      <a:endParaRPr lang="nl-BE" sz="1200" dirty="0">
                        <a:latin typeface="+mn-lt"/>
                      </a:endParaRPr>
                    </a:p>
                  </a:txBody>
                  <a:tcPr marT="34291" marB="34291"/>
                </a:tc>
                <a:extLst>
                  <a:ext uri="{0D108BD9-81ED-4DB2-BD59-A6C34878D82A}">
                    <a16:rowId xmlns:a16="http://schemas.microsoft.com/office/drawing/2014/main" val="1251579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429815"/>
      </p:ext>
    </p:extLst>
  </p:cSld>
  <p:clrMapOvr>
    <a:masterClrMapping/>
  </p:clrMapOvr>
</p:sld>
</file>

<file path=ppt/theme/theme1.xml><?xml version="1.0" encoding="utf-8"?>
<a:theme xmlns:a="http://schemas.openxmlformats.org/drawingml/2006/main" name="2_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oelichting xmlns="37d6ac44-9212-4376-af1b-3a59e959c005" xsi:nil="true"/>
    <Tonenin xmlns="37d6ac44-9212-4376-af1b-3a59e959c00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842044B8B7084EA4187CF37BA6A7D9" ma:contentTypeVersion="12" ma:contentTypeDescription="Een nieuw document maken." ma:contentTypeScope="" ma:versionID="ba1372b0d99123fb70a96374ead16b69">
  <xsd:schema xmlns:xsd="http://www.w3.org/2001/XMLSchema" xmlns:xs="http://www.w3.org/2001/XMLSchema" xmlns:p="http://schemas.microsoft.com/office/2006/metadata/properties" xmlns:ns2="37d6ac44-9212-4376-af1b-3a59e959c005" xmlns:ns3="4c375c2a-581d-47b8-9c20-98927d1bb37d" targetNamespace="http://schemas.microsoft.com/office/2006/metadata/properties" ma:root="true" ma:fieldsID="a6635d95909d6ade2186258fa9025e18" ns2:_="" ns3:_="">
    <xsd:import namespace="37d6ac44-9212-4376-af1b-3a59e959c005"/>
    <xsd:import namespace="4c375c2a-581d-47b8-9c20-98927d1bb37d"/>
    <xsd:element name="properties">
      <xsd:complexType>
        <xsd:sequence>
          <xsd:element name="documentManagement">
            <xsd:complexType>
              <xsd:all>
                <xsd:element ref="ns2:Toelichting" minOccurs="0"/>
                <xsd:element ref="ns2:Tonenin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d6ac44-9212-4376-af1b-3a59e959c005" elementFormDefault="qualified">
    <xsd:import namespace="http://schemas.microsoft.com/office/2006/documentManagement/types"/>
    <xsd:import namespace="http://schemas.microsoft.com/office/infopath/2007/PartnerControls"/>
    <xsd:element name="Toelichting" ma:index="8" nillable="true" ma:displayName="Toelichting" ma:format="Dropdown" ma:internalName="Toelichting">
      <xsd:simpleType>
        <xsd:restriction base="dms:Note">
          <xsd:maxLength value="255"/>
        </xsd:restriction>
      </xsd:simpleType>
    </xsd:element>
    <xsd:element name="Tonenin" ma:index="9" nillable="true" ma:displayName="Tonen in" ma:description="Waar moet deze map getoond worden" ma:format="Dropdown" ma:internalName="Tonenin">
      <xsd:simpleType>
        <xsd:restriction base="dms:Text">
          <xsd:maxLength value="255"/>
        </xsd:restriction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375c2a-581d-47b8-9c20-98927d1bb37d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1CB786A-828E-4C0E-8B7B-9DC5E620603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0155B2C-30F5-4F1E-9174-FC525FE7AE41}">
  <ds:schemaRefs>
    <ds:schemaRef ds:uri="http://purl.org/dc/terms/"/>
    <ds:schemaRef ds:uri="http://schemas.microsoft.com/office/2006/documentManagement/types"/>
    <ds:schemaRef ds:uri="4c375c2a-581d-47b8-9c20-98927d1bb37d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dcmitype/"/>
    <ds:schemaRef ds:uri="http://schemas.microsoft.com/office/infopath/2007/PartnerControls"/>
    <ds:schemaRef ds:uri="37d6ac44-9212-4376-af1b-3a59e959c005"/>
  </ds:schemaRefs>
</ds:datastoreItem>
</file>

<file path=customXml/itemProps3.xml><?xml version="1.0" encoding="utf-8"?>
<ds:datastoreItem xmlns:ds="http://schemas.openxmlformats.org/officeDocument/2006/customXml" ds:itemID="{7EA9B339-3BFA-4F5B-B9FF-4068442286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d6ac44-9212-4376-af1b-3a59e959c005"/>
    <ds:schemaRef ds:uri="4c375c2a-581d-47b8-9c20-98927d1bb3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3a5d6220-ba2e-4fd9-a8e3-ac0115fe397a}" enabled="0" method="" siteId="{3a5d6220-ba2e-4fd9-a8e3-ac0115fe397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</Words>
  <Application>Microsoft Office PowerPoint</Application>
  <PresentationFormat>Breedbeeld</PresentationFormat>
  <Paragraphs>72</Paragraphs>
  <Slides>5</Slides>
  <Notes>4</Notes>
  <HiddenSlides>0</HiddenSlides>
  <MMClips>0</MMClips>
  <ScaleCrop>false</ScaleCrop>
  <HeadingPairs>
    <vt:vector size="4" baseType="variant">
      <vt:variant>
        <vt:lpstr>Thema</vt:lpstr>
      </vt:variant>
      <vt:variant>
        <vt:i4>1</vt:i4>
      </vt:variant>
      <vt:variant>
        <vt:lpstr>Diatitels</vt:lpstr>
      </vt:variant>
      <vt:variant>
        <vt:i4>5</vt:i4>
      </vt:variant>
    </vt:vector>
  </HeadingPairs>
  <TitlesOfParts>
    <vt:vector size="6" baseType="lpstr">
      <vt:lpstr>2_Kantoorthema</vt:lpstr>
      <vt:lpstr>PMO - PROJECT CLOSING</vt:lpstr>
      <vt:lpstr>INHOUD – CLOSING DOC</vt:lpstr>
      <vt:lpstr>EVALUATION OF INITIAL OBJECTIVES / DELIVERABLES</vt:lpstr>
      <vt:lpstr>EVALUATION OF PROJECT RESOURCES</vt:lpstr>
      <vt:lpstr>VALIDATION PROJECT RESULT &amp; FOLLOW-UP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PMO – PROJECT CHARTER</dc:title>
  <dc:creator>Bart Kerckx</dc:creator>
  <cp:lastModifiedBy>Bart Kerckx</cp:lastModifiedBy>
  <cp:revision>66</cp:revision>
  <dcterms:modified xsi:type="dcterms:W3CDTF">2026-08-28T14:28:35Z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0x01010025842044B8B7084EA4187CF37BA6A7D9</vt:lpwstr>
  </property>
  <property fmtid="{D5CDD505-2E9C-101B-9397-08002B2CF9AE}" pid="3" name="xd_ProgID">
    <vt:lpwstr/>
  </property>
  <property fmtid="{D5CDD505-2E9C-101B-9397-08002B2CF9AE}" pid="4" name="ComplianceAssetId">
    <vt:lpwstr/>
  </property>
  <property fmtid="{D5CDD505-2E9C-101B-9397-08002B2CF9AE}" pid="5" name="TemplateUrl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xd_Signature">
    <vt:bool>false</vt:bool>
  </property>
  <property fmtid="{D5CDD505-2E9C-101B-9397-08002B2CF9AE}" pid="9" name="MSIP_Label_d70c5331-32c3-44e8-93df-4eee0e376e6f_Enabled">
    <vt:lpwstr>true</vt:lpwstr>
  </property>
  <property fmtid="{D5CDD505-2E9C-101B-9397-08002B2CF9AE}" pid="10" name="MSIP_Label_d70c5331-32c3-44e8-93df-4eee0e376e6f_SetDate">
    <vt:lpwstr>2025-09-29T14:30:36Z</vt:lpwstr>
  </property>
  <property fmtid="{D5CDD505-2E9C-101B-9397-08002B2CF9AE}" pid="11" name="MSIP_Label_d70c5331-32c3-44e8-93df-4eee0e376e6f_Method">
    <vt:lpwstr>Privileged</vt:lpwstr>
  </property>
  <property fmtid="{D5CDD505-2E9C-101B-9397-08002B2CF9AE}" pid="12" name="MSIP_Label_d70c5331-32c3-44e8-93df-4eee0e376e6f_Name">
    <vt:lpwstr>Public</vt:lpwstr>
  </property>
  <property fmtid="{D5CDD505-2E9C-101B-9397-08002B2CF9AE}" pid="13" name="MSIP_Label_d70c5331-32c3-44e8-93df-4eee0e376e6f_SiteId">
    <vt:lpwstr>3a5d6220-ba2e-4fd9-a8e3-ac0115fe397a</vt:lpwstr>
  </property>
  <property fmtid="{D5CDD505-2E9C-101B-9397-08002B2CF9AE}" pid="14" name="MSIP_Label_d70c5331-32c3-44e8-93df-4eee0e376e6f_ActionId">
    <vt:lpwstr>ebc4394c-b77a-4dee-8d43-3ea32fa8db15</vt:lpwstr>
  </property>
  <property fmtid="{D5CDD505-2E9C-101B-9397-08002B2CF9AE}" pid="15" name="MSIP_Label_d70c5331-32c3-44e8-93df-4eee0e376e6f_ContentBits">
    <vt:lpwstr>0</vt:lpwstr>
  </property>
  <property fmtid="{D5CDD505-2E9C-101B-9397-08002B2CF9AE}" pid="16" name="MSIP_Label_d70c5331-32c3-44e8-93df-4eee0e376e6f_Tag">
    <vt:lpwstr>10, 0, 1, 1</vt:lpwstr>
  </property>
</Properties>
</file>